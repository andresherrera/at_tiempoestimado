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E025D-AE21-2862-265B-A3558ABE0F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433323-7785-D170-B397-597F45A0BC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44300C-8BEC-2967-5D3E-B7B834F4F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14FD0-3EC0-4D38-8359-9837FAC73D15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075A96-1F0C-7355-ECA4-A3EED3C52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51904E-893B-165E-338C-01B180873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24305-15CA-4514-85DE-0DB8256888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304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DEF09-8FD4-B93E-4088-0ABCE37AC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2C825-38AF-A14A-AAD4-82742C8BD4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D94888-8DFB-3BA4-0BEF-56224F548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14FD0-3EC0-4D38-8359-9837FAC73D15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1215CE-422A-6FE6-7E71-4F5603457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4807DA-85B5-1BC5-0AB9-FBB5273C4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24305-15CA-4514-85DE-0DB8256888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5907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5E411-D861-F223-B82F-1A126F792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88252D-4668-AF81-C25D-715E455617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8D5DB-BFD7-1C65-D146-DA84A77AB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14FD0-3EC0-4D38-8359-9837FAC73D15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C5981C-1ACE-5FF3-E406-82920D009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F99FF8-7414-521D-B33B-AEAEAE503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24305-15CA-4514-85DE-0DB8256888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153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FF6CC-F17E-E082-5EDD-31C803A84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15548-478E-3DCE-0BC2-FB7167318F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8C0AE4-8489-1F49-68CD-D2BF0E634E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8F10C5-0E8E-8CBD-5B9C-F45FD169B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14FD0-3EC0-4D38-8359-9837FAC73D15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84E080-BBB1-9EC5-3BB2-422E028C7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41F400-A95E-88B9-F7F1-EEB426FC6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24305-15CA-4514-85DE-0DB8256888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206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705F5-EDAC-363D-C1DE-42C044F56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95F3BF-6F5B-90E7-E0D6-58EE16B84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E80970-8D88-96DA-B4CD-30EDC07B6D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358A8A-3FC7-4496-19F1-7E6EB190F7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E1BFCD-B9A0-D358-CB42-65B15DDC07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409025-6F81-B830-993D-9A4109F75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14FD0-3EC0-4D38-8359-9837FAC73D15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FE9F6E-DCE5-91F3-B42D-4A6B0AF70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BBB1BE-F6AA-43EE-1F8E-A7FEF4405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24305-15CA-4514-85DE-0DB8256888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963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DFF59-76EE-476A-084B-7EAE2A0AF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CFFD43-1FF2-E8A0-9E8C-D30989815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14FD0-3EC0-4D38-8359-9837FAC73D15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3B9885-F931-297C-CE4E-0CE558448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7DC0B7-05AB-C93B-0060-88C8A71CD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24305-15CA-4514-85DE-0DB8256888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964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AA2490-440A-1E03-2B44-F0EE85207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14FD0-3EC0-4D38-8359-9837FAC73D15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69F994-FC1C-F913-FB7A-4FC04A548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76D0A2-0A45-36BF-20D3-0B5F05F21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24305-15CA-4514-85DE-0DB8256888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147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8B9BD-E785-D7B0-1D7A-B178E3689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77C0E5-AF18-4053-40EE-05847F215C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C45925-FEF8-804D-D723-11DC5BDBC4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B0B158-FA4F-1018-47C4-8538205E9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14FD0-3EC0-4D38-8359-9837FAC73D15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B51411-A177-3C80-D4D3-5AF9B3425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2762C0-ADA6-76DD-C674-90D3E8AD4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24305-15CA-4514-85DE-0DB8256888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675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E2FB9-FDC4-808C-E3AA-FFC3624D1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F32045-F21C-2417-A0BF-58D9C62837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745797-BFFF-021B-1144-C3655CC23D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9C2F35-B46B-D62E-4241-CE8130568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14FD0-3EC0-4D38-8359-9837FAC73D15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8A52AC-AD50-7E98-0B37-24259C325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2A03D4-3177-D6FB-7067-D03179AC6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24305-15CA-4514-85DE-0DB8256888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343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4AE32-B048-BDD3-7297-40900EE9D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12F779-A1D7-9922-7365-0B38D72548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7A036C-BFA5-A36E-ACF7-A6584522A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14FD0-3EC0-4D38-8359-9837FAC73D15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38291-5FE8-3C46-46B4-24ECE096B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2283FF-0DDE-8293-FE4C-FE0BF4D92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24305-15CA-4514-85DE-0DB8256888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487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C044B3-6D07-DD54-1EDC-6627F58887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8D3A04-F343-0237-327E-45710BC30A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FA6B14-7D08-BBBC-0B9B-B731A7695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14FD0-3EC0-4D38-8359-9837FAC73D15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88F65-75E7-63EB-44DB-B005A6D0F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52CF10-7FAD-AD92-0F89-8A5D7559D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24305-15CA-4514-85DE-0DB8256888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473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97993B-9CD6-EE73-D804-AE0659826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F3FEC7-D13B-EABB-3C92-B2D9E704C3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2DAE0D-B0EE-AD6C-4FE5-92E1568AF8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214FD0-3EC0-4D38-8359-9837FAC73D15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62F42F-10DC-A585-0E3B-51CF686BCD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7EA217-EFD3-F49A-7C80-FB934C8CF7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024305-15CA-4514-85DE-0DB8256888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667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.marine.copernicus.eu/product/WIND_GLO_PHY_L3_NRT_012_002/services" TargetMode="External"/><Relationship Id="rId2" Type="http://schemas.openxmlformats.org/officeDocument/2006/relationships/hyperlink" Target="https://data.marine.copernicus.eu/product/GLOBAL_ANALYSISFORECAST_WAV_001_027/service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ata.marine.copernicus.eu/product/GLOBAL_ANALYSISFORECAST_PHY_001_024/services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1F46C-FA3E-69CA-C259-991B09C14C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AT </a:t>
            </a:r>
            <a:r>
              <a:rPr lang="en-US" dirty="0" err="1"/>
              <a:t>TiempoEstimado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7B7CEC-1F72-B888-5923-BD6B310E96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36626924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82662-7D46-C24C-1871-0DC85BB2D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Flujo</a:t>
            </a:r>
            <a:r>
              <a:rPr lang="en-US" b="1" dirty="0"/>
              <a:t> de </a:t>
            </a:r>
            <a:r>
              <a:rPr lang="en-US" b="1" dirty="0" err="1"/>
              <a:t>trabajo</a:t>
            </a:r>
            <a:r>
              <a:rPr lang="en-US" b="1" dirty="0"/>
              <a:t> global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68AAE-331D-D34E-5D63-8F3F74BE00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dirty="0"/>
              <a:t>El proyecto encadena dos procesos principales</a:t>
            </a:r>
          </a:p>
          <a:p>
            <a:r>
              <a:rPr lang="es-ES" b="1" dirty="0"/>
              <a:t>Descarga</a:t>
            </a:r>
            <a:r>
              <a:rPr lang="es-ES" dirty="0"/>
              <a:t> (</a:t>
            </a:r>
            <a:r>
              <a:rPr lang="es-ES" dirty="0">
                <a:solidFill>
                  <a:srgbClr val="FF0000"/>
                </a:solidFill>
              </a:rPr>
              <a:t>download_copernicusmarine_data.py</a:t>
            </a:r>
            <a:r>
              <a:rPr lang="es-ES" dirty="0"/>
              <a:t>): con credenciales CMEMS, recorta en espacio (</a:t>
            </a:r>
            <a:r>
              <a:rPr lang="es-ES" dirty="0" err="1"/>
              <a:t>bbox</a:t>
            </a:r>
            <a:r>
              <a:rPr lang="es-ES" dirty="0"/>
              <a:t> WGS84 derivado del </a:t>
            </a:r>
            <a:r>
              <a:rPr lang="es-ES" dirty="0" err="1"/>
              <a:t>GeoJSON</a:t>
            </a:r>
            <a:r>
              <a:rPr lang="es-ES" dirty="0"/>
              <a:t> de área de influencia) productos de oleaje, viento y corriente. Los ficheros .</a:t>
            </a:r>
            <a:r>
              <a:rPr lang="es-ES" dirty="0" err="1"/>
              <a:t>nc</a:t>
            </a:r>
            <a:r>
              <a:rPr lang="es-ES" dirty="0"/>
              <a:t> se guardan bajo data/raw/ en subcarpetas por tema.</a:t>
            </a:r>
          </a:p>
          <a:p>
            <a:r>
              <a:rPr lang="es-ES" b="1" dirty="0"/>
              <a:t>Estimación</a:t>
            </a:r>
            <a:r>
              <a:rPr lang="es-ES" dirty="0"/>
              <a:t> (</a:t>
            </a:r>
            <a:r>
              <a:rPr lang="es-ES" dirty="0">
                <a:solidFill>
                  <a:srgbClr val="FF0000"/>
                </a:solidFill>
              </a:rPr>
              <a:t>calculo_tiempo_estimado.py</a:t>
            </a:r>
            <a:r>
              <a:rPr lang="es-ES" dirty="0"/>
              <a:t>): para un par origen–destino, lee el último .</a:t>
            </a:r>
            <a:r>
              <a:rPr lang="es-ES" dirty="0" err="1"/>
              <a:t>nc</a:t>
            </a:r>
            <a:r>
              <a:rPr lang="es-ES" dirty="0"/>
              <a:t> por tema en cada carpeta, extrae variables en el punto de partida (barco) y aplica un modelo heurístico de velocidad efectiva y tiempo de travesía. Puede ejecutarse como API HTTP o en línea de comandos.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7082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AFF61B4-8332-B90E-25BC-F75084C90B4C}"/>
              </a:ext>
            </a:extLst>
          </p:cNvPr>
          <p:cNvSpPr/>
          <p:nvPr/>
        </p:nvSpPr>
        <p:spPr>
          <a:xfrm>
            <a:off x="809468" y="314793"/>
            <a:ext cx="3822493" cy="50966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rgbClr val="1F2328"/>
                </a:solidFill>
                <a:latin typeface="Courier New" panose="02070309020205020404" pitchFamily="49" charset="0"/>
              </a:rPr>
              <a:t>area_influencia.geojson</a:t>
            </a:r>
            <a:endParaRPr lang="en-US" b="1" dirty="0">
              <a:solidFill>
                <a:srgbClr val="1F2328"/>
              </a:solidFill>
              <a:latin typeface="Courier New" panose="020703090202050204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445E8F-9846-E70A-E8B1-88306C20DEC9}"/>
              </a:ext>
            </a:extLst>
          </p:cNvPr>
          <p:cNvSpPr/>
          <p:nvPr/>
        </p:nvSpPr>
        <p:spPr>
          <a:xfrm>
            <a:off x="809468" y="1457794"/>
            <a:ext cx="3822493" cy="9268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 dirty="0">
                <a:solidFill>
                  <a:srgbClr val="1F2328"/>
                </a:solidFill>
                <a:effectLst/>
                <a:latin typeface="Courier New" panose="02070309020205020404" pitchFamily="49" charset="0"/>
              </a:rPr>
              <a:t>download_copernicus</a:t>
            </a:r>
            <a:r>
              <a:rPr lang="en-US" b="1" dirty="0">
                <a:solidFill>
                  <a:srgbClr val="1F2328"/>
                </a:solidFill>
                <a:latin typeface="Courier New" panose="02070309020205020404" pitchFamily="49" charset="0"/>
              </a:rPr>
              <a:t>_</a:t>
            </a:r>
            <a:r>
              <a:rPr lang="en-US" b="1" i="0" dirty="0">
                <a:solidFill>
                  <a:srgbClr val="1F2328"/>
                </a:solidFill>
                <a:effectLst/>
                <a:latin typeface="Courier New" panose="02070309020205020404" pitchFamily="49" charset="0"/>
              </a:rPr>
              <a:t>marine_data.py 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E5D88A58-AB51-B463-A53D-1B3DF45D5808}"/>
              </a:ext>
            </a:extLst>
          </p:cNvPr>
          <p:cNvSpPr/>
          <p:nvPr/>
        </p:nvSpPr>
        <p:spPr>
          <a:xfrm>
            <a:off x="2405921" y="886294"/>
            <a:ext cx="314793" cy="509666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9990DF-E0A8-0799-3C9D-79BD8B4330A5}"/>
              </a:ext>
            </a:extLst>
          </p:cNvPr>
          <p:cNvSpPr/>
          <p:nvPr/>
        </p:nvSpPr>
        <p:spPr>
          <a:xfrm>
            <a:off x="524654" y="3105807"/>
            <a:ext cx="4392119" cy="92689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0" i="0" dirty="0">
                <a:solidFill>
                  <a:srgbClr val="1F2328"/>
                </a:solidFill>
                <a:effectLst/>
                <a:latin typeface="Courier New" panose="02070309020205020404" pitchFamily="49" charset="0"/>
              </a:rPr>
              <a:t>data/raw/marine_oleaje/*.nc</a:t>
            </a:r>
          </a:p>
          <a:p>
            <a:r>
              <a:rPr lang="en-US" b="0" i="0" dirty="0">
                <a:solidFill>
                  <a:srgbClr val="1F2328"/>
                </a:solidFill>
                <a:effectLst/>
                <a:latin typeface="Courier New" panose="02070309020205020404" pitchFamily="49" charset="0"/>
              </a:rPr>
              <a:t>data/raw/marine_viento/*.nc</a:t>
            </a:r>
          </a:p>
          <a:p>
            <a:r>
              <a:rPr lang="en-US" b="0" i="0" dirty="0">
                <a:solidFill>
                  <a:srgbClr val="1F2328"/>
                </a:solidFill>
                <a:effectLst/>
                <a:latin typeface="Courier New" panose="02070309020205020404" pitchFamily="49" charset="0"/>
              </a:rPr>
              <a:t>data/raw/marine_corriente/*.nc</a:t>
            </a: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5360C3F2-F92D-70A3-4EDB-3142D2F381B2}"/>
              </a:ext>
            </a:extLst>
          </p:cNvPr>
          <p:cNvSpPr/>
          <p:nvPr/>
        </p:nvSpPr>
        <p:spPr>
          <a:xfrm>
            <a:off x="2405921" y="2596141"/>
            <a:ext cx="314793" cy="509666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C8BB50-4A0D-1EFB-2D3A-6AAF701DF2CD}"/>
              </a:ext>
            </a:extLst>
          </p:cNvPr>
          <p:cNvSpPr/>
          <p:nvPr/>
        </p:nvSpPr>
        <p:spPr>
          <a:xfrm>
            <a:off x="652070" y="4789703"/>
            <a:ext cx="3822493" cy="9268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rgbClr val="1F2328"/>
                </a:solidFill>
                <a:latin typeface="Courier New" panose="02070309020205020404" pitchFamily="49" charset="0"/>
              </a:rPr>
              <a:t>calculo_tiempo</a:t>
            </a:r>
            <a:r>
              <a:rPr lang="en-US" b="1" dirty="0">
                <a:solidFill>
                  <a:srgbClr val="1F2328"/>
                </a:solidFill>
                <a:latin typeface="Courier New" panose="02070309020205020404" pitchFamily="49" charset="0"/>
              </a:rPr>
              <a:t>_ estimado.py</a:t>
            </a: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399119B7-8335-77DE-2EA9-EDD91E373081}"/>
              </a:ext>
            </a:extLst>
          </p:cNvPr>
          <p:cNvSpPr/>
          <p:nvPr/>
        </p:nvSpPr>
        <p:spPr>
          <a:xfrm>
            <a:off x="2405921" y="4156368"/>
            <a:ext cx="314793" cy="509666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385E346-953E-DA3B-7A69-F7D304BDA1AC}"/>
              </a:ext>
            </a:extLst>
          </p:cNvPr>
          <p:cNvSpPr/>
          <p:nvPr/>
        </p:nvSpPr>
        <p:spPr>
          <a:xfrm>
            <a:off x="6493239" y="314793"/>
            <a:ext cx="3822493" cy="50966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1F2328"/>
                </a:solidFill>
                <a:latin typeface="Courier New" panose="02070309020205020404" pitchFamily="49" charset="0"/>
              </a:rPr>
              <a:t>.env </a:t>
            </a:r>
            <a:r>
              <a:rPr lang="en-US" b="1" dirty="0" err="1">
                <a:solidFill>
                  <a:srgbClr val="1F2328"/>
                </a:solidFill>
                <a:latin typeface="Courier New" panose="02070309020205020404" pitchFamily="49" charset="0"/>
              </a:rPr>
              <a:t>credenciales</a:t>
            </a:r>
            <a:r>
              <a:rPr lang="en-US" b="1" dirty="0">
                <a:solidFill>
                  <a:srgbClr val="1F2328"/>
                </a:solidFill>
                <a:latin typeface="Courier New" panose="02070309020205020404" pitchFamily="49" charset="0"/>
              </a:rPr>
              <a:t> CMEMS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7AD84D-737D-291D-435F-3D8D24E663F7}"/>
              </a:ext>
            </a:extLst>
          </p:cNvPr>
          <p:cNvSpPr/>
          <p:nvPr/>
        </p:nvSpPr>
        <p:spPr>
          <a:xfrm>
            <a:off x="6493239" y="1457794"/>
            <a:ext cx="3822493" cy="9268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0" i="0" dirty="0">
                <a:solidFill>
                  <a:srgbClr val="1F2328"/>
                </a:solidFill>
                <a:effectLst/>
                <a:latin typeface="Courier New" panose="02070309020205020404" pitchFamily="49" charset="0"/>
              </a:rPr>
              <a:t>Copernicus Marine subset (NetCDF </a:t>
            </a:r>
            <a:r>
              <a:rPr lang="en-US" b="0" i="0" dirty="0" err="1">
                <a:solidFill>
                  <a:srgbClr val="1F2328"/>
                </a:solidFill>
                <a:effectLst/>
                <a:latin typeface="Courier New" panose="02070309020205020404" pitchFamily="49" charset="0"/>
              </a:rPr>
              <a:t>por</a:t>
            </a:r>
            <a:r>
              <a:rPr lang="en-US" b="0" i="0" dirty="0">
                <a:solidFill>
                  <a:srgbClr val="1F2328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i="0" dirty="0" err="1">
                <a:solidFill>
                  <a:srgbClr val="1F2328"/>
                </a:solidFill>
                <a:effectLst/>
                <a:latin typeface="Courier New" panose="02070309020205020404" pitchFamily="49" charset="0"/>
              </a:rPr>
              <a:t>tema</a:t>
            </a:r>
            <a:r>
              <a:rPr lang="en-US" b="0" i="0" dirty="0">
                <a:solidFill>
                  <a:srgbClr val="1F2328"/>
                </a:solidFill>
                <a:effectLst/>
                <a:latin typeface="Courier New" panose="02070309020205020404" pitchFamily="49" charset="0"/>
              </a:rPr>
              <a:t>/AOI) 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838273DA-4B59-FB8B-599A-139EBE69BD87}"/>
              </a:ext>
            </a:extLst>
          </p:cNvPr>
          <p:cNvSpPr/>
          <p:nvPr/>
        </p:nvSpPr>
        <p:spPr>
          <a:xfrm rot="16200000">
            <a:off x="5364862" y="1048124"/>
            <a:ext cx="395475" cy="1676403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1D171B05-59BB-0DA6-48CC-150457D795AF}"/>
              </a:ext>
            </a:extLst>
          </p:cNvPr>
          <p:cNvSpPr/>
          <p:nvPr/>
        </p:nvSpPr>
        <p:spPr>
          <a:xfrm>
            <a:off x="8052215" y="886294"/>
            <a:ext cx="314793" cy="509666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6E5036F9-3C26-16DE-D3E9-B13FBA704B71}"/>
              </a:ext>
            </a:extLst>
          </p:cNvPr>
          <p:cNvSpPr/>
          <p:nvPr/>
        </p:nvSpPr>
        <p:spPr>
          <a:xfrm rot="16200000">
            <a:off x="5303654" y="4414947"/>
            <a:ext cx="395475" cy="1676403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58FF156-8290-3C5C-F6FE-67D7A992E243}"/>
              </a:ext>
            </a:extLst>
          </p:cNvPr>
          <p:cNvSpPr/>
          <p:nvPr/>
        </p:nvSpPr>
        <p:spPr>
          <a:xfrm>
            <a:off x="6528220" y="4789703"/>
            <a:ext cx="2300987" cy="92689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0" i="0" dirty="0">
                <a:solidFill>
                  <a:srgbClr val="1F2328"/>
                </a:solidFill>
                <a:effectLst/>
                <a:latin typeface="Courier New" panose="02070309020205020404" pitchFamily="49" charset="0"/>
              </a:rPr>
              <a:t>JSON</a:t>
            </a:r>
          </a:p>
          <a:p>
            <a:r>
              <a:rPr lang="en-US" b="0" i="0" dirty="0">
                <a:solidFill>
                  <a:srgbClr val="1F2328"/>
                </a:solidFill>
                <a:effectLst/>
                <a:latin typeface="Courier New" panose="02070309020205020404" pitchFamily="49" charset="0"/>
              </a:rPr>
              <a:t>ETA, </a:t>
            </a:r>
            <a:r>
              <a:rPr lang="en-US" b="0" i="0" dirty="0" err="1">
                <a:solidFill>
                  <a:srgbClr val="1F2328"/>
                </a:solidFill>
                <a:effectLst/>
                <a:latin typeface="Courier New" panose="02070309020205020404" pitchFamily="49" charset="0"/>
              </a:rPr>
              <a:t>distancia</a:t>
            </a:r>
            <a:r>
              <a:rPr lang="en-US" b="0" i="0" dirty="0">
                <a:solidFill>
                  <a:srgbClr val="1F2328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i="0" dirty="0" err="1">
                <a:solidFill>
                  <a:srgbClr val="1F2328"/>
                </a:solidFill>
                <a:effectLst/>
                <a:latin typeface="Courier New" panose="02070309020205020404" pitchFamily="49" charset="0"/>
              </a:rPr>
              <a:t>tiempo</a:t>
            </a:r>
            <a:endParaRPr lang="en-US" b="1" i="0" dirty="0">
              <a:solidFill>
                <a:srgbClr val="1F2328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28189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FDF72-CD3B-F447-750F-37FE320DD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download_copernicusmarine_data.py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0C708-CD76-241B-3AB7-8116878721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47555"/>
          </a:xfrm>
        </p:spPr>
        <p:txBody>
          <a:bodyPr/>
          <a:lstStyle/>
          <a:p>
            <a:pPr marL="0" indent="0">
              <a:buNone/>
            </a:pPr>
            <a:r>
              <a:rPr lang="en-US" b="1" dirty="0" err="1"/>
              <a:t>Propósito</a:t>
            </a:r>
            <a:r>
              <a:rPr lang="en-US" b="1" dirty="0"/>
              <a:t>:</a:t>
            </a:r>
            <a:r>
              <a:rPr lang="en-US" dirty="0"/>
              <a:t> </a:t>
            </a:r>
            <a:r>
              <a:rPr lang="en-US" dirty="0" err="1"/>
              <a:t>automatizar</a:t>
            </a:r>
            <a:r>
              <a:rPr lang="en-US" dirty="0"/>
              <a:t> </a:t>
            </a:r>
            <a:r>
              <a:rPr lang="en-US" dirty="0" err="1"/>
              <a:t>descargas</a:t>
            </a:r>
            <a:r>
              <a:rPr lang="en-US" dirty="0"/>
              <a:t> </a:t>
            </a:r>
            <a:r>
              <a:rPr lang="en-US" dirty="0" err="1"/>
              <a:t>mediante</a:t>
            </a:r>
            <a:r>
              <a:rPr lang="en-US" dirty="0"/>
              <a:t> la API Python </a:t>
            </a:r>
            <a:r>
              <a:rPr lang="en-US" dirty="0" err="1"/>
              <a:t>copernicusmarine</a:t>
            </a:r>
            <a:r>
              <a:rPr lang="en-US" dirty="0"/>
              <a:t>, con </a:t>
            </a:r>
            <a:r>
              <a:rPr lang="en-US" dirty="0" err="1"/>
              <a:t>salida</a:t>
            </a:r>
            <a:r>
              <a:rPr lang="en-US" dirty="0"/>
              <a:t> NetCDF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tema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E9E66F9-C100-8BAA-402B-36E1E5E6AC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0620067"/>
              </p:ext>
            </p:extLst>
          </p:nvPr>
        </p:nvGraphicFramePr>
        <p:xfrm>
          <a:off x="838200" y="3064409"/>
          <a:ext cx="9370102" cy="2743200"/>
        </p:xfrm>
        <a:graphic>
          <a:graphicData uri="http://schemas.openxmlformats.org/drawingml/2006/table">
            <a:tbl>
              <a:tblPr/>
              <a:tblGrid>
                <a:gridCol w="4685051">
                  <a:extLst>
                    <a:ext uri="{9D8B030D-6E8A-4147-A177-3AD203B41FA5}">
                      <a16:colId xmlns:a16="http://schemas.microsoft.com/office/drawing/2014/main" val="2395542287"/>
                    </a:ext>
                  </a:extLst>
                </a:gridCol>
                <a:gridCol w="4685051">
                  <a:extLst>
                    <a:ext uri="{9D8B030D-6E8A-4147-A177-3AD203B41FA5}">
                      <a16:colId xmlns:a16="http://schemas.microsoft.com/office/drawing/2014/main" val="7508229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b="1">
                          <a:effectLst/>
                        </a:rPr>
                        <a:t>Entrada</a:t>
                      </a:r>
                    </a:p>
                  </a:txBody>
                  <a:tcPr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b="1">
                          <a:effectLst/>
                        </a:rPr>
                        <a:t>Descripción</a:t>
                      </a:r>
                    </a:p>
                  </a:txBody>
                  <a:tcPr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36672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  <a:latin typeface="ui-monospace"/>
                        </a:rPr>
                        <a:t>area_influencia.geojson</a:t>
                      </a:r>
                      <a:endParaRPr lang="en-US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>
                          <a:effectLst/>
                        </a:rPr>
                        <a:t>Geometría del área de influencia. Se proyecta a EPSG:4326 y se usa la </a:t>
                      </a:r>
                      <a:r>
                        <a:rPr lang="es-ES" b="1">
                          <a:effectLst/>
                        </a:rPr>
                        <a:t>caja envolvente</a:t>
                      </a:r>
                      <a:r>
                        <a:rPr lang="es-ES">
                          <a:effectLst/>
                        </a:rPr>
                        <a:t> (min/max lon y lat). La API </a:t>
                      </a:r>
                      <a:r>
                        <a:rPr lang="es-ES">
                          <a:effectLst/>
                          <a:latin typeface="ui-monospace"/>
                        </a:rPr>
                        <a:t>subset</a:t>
                      </a:r>
                      <a:r>
                        <a:rPr lang="es-ES">
                          <a:effectLst/>
                        </a:rPr>
                        <a:t> solo admite rectángulo, no recorte poligonal exacto.</a:t>
                      </a:r>
                    </a:p>
                  </a:txBody>
                  <a:tcPr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55835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dirty="0">
                          <a:effectLst/>
                          <a:latin typeface="ui-monospace"/>
                        </a:rPr>
                        <a:t>.env</a:t>
                      </a:r>
                      <a:endParaRPr lang="en-US" dirty="0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dirty="0">
                          <a:effectLst/>
                        </a:rPr>
                        <a:t>Credenciales </a:t>
                      </a:r>
                      <a:r>
                        <a:rPr lang="es-ES" dirty="0">
                          <a:effectLst/>
                          <a:latin typeface="ui-monospace"/>
                        </a:rPr>
                        <a:t>COPERNICUS_USERNAME</a:t>
                      </a:r>
                      <a:r>
                        <a:rPr lang="es-ES" dirty="0">
                          <a:effectLst/>
                        </a:rPr>
                        <a:t> / </a:t>
                      </a:r>
                      <a:r>
                        <a:rPr lang="es-ES" dirty="0">
                          <a:effectLst/>
                          <a:latin typeface="ui-monospace"/>
                        </a:rPr>
                        <a:t>COPERNICUS_PASSWORD</a:t>
                      </a:r>
                      <a:r>
                        <a:rPr lang="es-ES" dirty="0">
                          <a:effectLst/>
                        </a:rPr>
                        <a:t> y opciones de variables y ventana temporal.</a:t>
                      </a:r>
                    </a:p>
                  </a:txBody>
                  <a:tcPr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60973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200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0E998-CABA-D7AD-621D-29818F5B6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Temas </a:t>
            </a:r>
            <a:r>
              <a:rPr lang="en-US" b="1" dirty="0" err="1"/>
              <a:t>configurados</a:t>
            </a:r>
            <a:r>
              <a:rPr lang="en-US" b="1" dirty="0"/>
              <a:t> (THEMES)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57DDD-494F-4D39-6197-9E2DF196DF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7240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dirty="0"/>
              <a:t>Cada tema define carpeta de salida, variables de entorno para </a:t>
            </a:r>
            <a:r>
              <a:rPr lang="es-ES" dirty="0" err="1"/>
              <a:t>sobreescribir</a:t>
            </a:r>
            <a:r>
              <a:rPr lang="es-ES" dirty="0"/>
              <a:t> </a:t>
            </a:r>
            <a:r>
              <a:rPr lang="es-ES" dirty="0" err="1"/>
              <a:t>dataset</a:t>
            </a:r>
            <a:r>
              <a:rPr lang="es-ES" dirty="0"/>
              <a:t>/variables y valores por defecto del catálogo CMEMS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5019322-A615-CD44-EA32-BDA220220D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5224077"/>
              </p:ext>
            </p:extLst>
          </p:nvPr>
        </p:nvGraphicFramePr>
        <p:xfrm>
          <a:off x="838200" y="3132970"/>
          <a:ext cx="10779180" cy="3092027"/>
        </p:xfrm>
        <a:graphic>
          <a:graphicData uri="http://schemas.openxmlformats.org/drawingml/2006/table">
            <a:tbl>
              <a:tblPr/>
              <a:tblGrid>
                <a:gridCol w="2694795">
                  <a:extLst>
                    <a:ext uri="{9D8B030D-6E8A-4147-A177-3AD203B41FA5}">
                      <a16:colId xmlns:a16="http://schemas.microsoft.com/office/drawing/2014/main" val="3670707066"/>
                    </a:ext>
                  </a:extLst>
                </a:gridCol>
                <a:gridCol w="2694795">
                  <a:extLst>
                    <a:ext uri="{9D8B030D-6E8A-4147-A177-3AD203B41FA5}">
                      <a16:colId xmlns:a16="http://schemas.microsoft.com/office/drawing/2014/main" val="3997819231"/>
                    </a:ext>
                  </a:extLst>
                </a:gridCol>
                <a:gridCol w="2694795">
                  <a:extLst>
                    <a:ext uri="{9D8B030D-6E8A-4147-A177-3AD203B41FA5}">
                      <a16:colId xmlns:a16="http://schemas.microsoft.com/office/drawing/2014/main" val="1693033657"/>
                    </a:ext>
                  </a:extLst>
                </a:gridCol>
                <a:gridCol w="2694795">
                  <a:extLst>
                    <a:ext uri="{9D8B030D-6E8A-4147-A177-3AD203B41FA5}">
                      <a16:colId xmlns:a16="http://schemas.microsoft.com/office/drawing/2014/main" val="1054609416"/>
                    </a:ext>
                  </a:extLst>
                </a:gridCol>
              </a:tblGrid>
              <a:tr h="45123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1" dirty="0" err="1">
                          <a:effectLst/>
                        </a:rPr>
                        <a:t>Carpeta</a:t>
                      </a:r>
                      <a:r>
                        <a:rPr lang="en-US" sz="1400" b="1" dirty="0">
                          <a:effectLst/>
                        </a:rPr>
                        <a:t> </a:t>
                      </a:r>
                    </a:p>
                  </a:txBody>
                  <a:tcPr marL="71333" marR="71333" marT="35667" marB="35667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1">
                          <a:effectLst/>
                        </a:rPr>
                        <a:t>Dataset por defecto (dataset_id)</a:t>
                      </a:r>
                    </a:p>
                  </a:txBody>
                  <a:tcPr marL="71333" marR="71333" marT="35667" marB="35667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1" dirty="0">
                          <a:effectLst/>
                        </a:rPr>
                        <a:t>Variables </a:t>
                      </a:r>
                      <a:r>
                        <a:rPr lang="en-US" sz="1400" b="1" dirty="0" err="1">
                          <a:effectLst/>
                        </a:rPr>
                        <a:t>por</a:t>
                      </a:r>
                      <a:r>
                        <a:rPr lang="en-US" sz="1400" b="1" dirty="0">
                          <a:effectLst/>
                        </a:rPr>
                        <a:t> </a:t>
                      </a:r>
                      <a:r>
                        <a:rPr lang="en-US" sz="1400" b="1" dirty="0" err="1">
                          <a:effectLst/>
                        </a:rPr>
                        <a:t>defecto</a:t>
                      </a:r>
                      <a:r>
                        <a:rPr lang="en-US" sz="1400" b="1" dirty="0">
                          <a:effectLst/>
                        </a:rPr>
                        <a:t> (</a:t>
                      </a:r>
                      <a:r>
                        <a:rPr lang="en-US" sz="1400" b="1" dirty="0" err="1">
                          <a:effectLst/>
                        </a:rPr>
                        <a:t>resumen</a:t>
                      </a:r>
                      <a:r>
                        <a:rPr lang="en-US" sz="1400" b="1" dirty="0">
                          <a:effectLst/>
                        </a:rPr>
                        <a:t>)</a:t>
                      </a:r>
                    </a:p>
                  </a:txBody>
                  <a:tcPr marL="71333" marR="71333" marT="35667" marB="35667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b="1" dirty="0">
                          <a:effectLst/>
                        </a:rPr>
                        <a:t>Fuente</a:t>
                      </a:r>
                    </a:p>
                  </a:txBody>
                  <a:tcPr marL="71333" marR="71333" marT="35667" marB="35667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8872772"/>
                  </a:ext>
                </a:extLst>
              </a:tr>
              <a:tr h="58929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  <a:latin typeface="ui-monospace"/>
                        </a:rPr>
                        <a:t>marine_oleaje</a:t>
                      </a:r>
                      <a:endParaRPr lang="en-US" sz="1400">
                        <a:effectLst/>
                      </a:endParaRPr>
                    </a:p>
                  </a:txBody>
                  <a:tcPr marL="71333" marR="71333" marT="35667" marB="35667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nn-NO" sz="1400" dirty="0">
                          <a:effectLst/>
                          <a:latin typeface="ui-monospace"/>
                        </a:rPr>
                        <a:t>cmems_mod_glo_wav_anfc_0.083deg_PT3H-i</a:t>
                      </a:r>
                      <a:endParaRPr lang="nn-NO" sz="1400" dirty="0">
                        <a:effectLst/>
                      </a:endParaRPr>
                    </a:p>
                  </a:txBody>
                  <a:tcPr marL="71333" marR="71333" marT="35667" marB="35667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dirty="0">
                          <a:effectLst/>
                        </a:rPr>
                        <a:t>VHM0, </a:t>
                      </a:r>
                      <a:r>
                        <a:rPr lang="en-US" sz="1400" dirty="0" err="1">
                          <a:effectLst/>
                        </a:rPr>
                        <a:t>alturas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significativas</a:t>
                      </a:r>
                      <a:endParaRPr lang="en-US" sz="1400" dirty="0">
                        <a:effectLst/>
                      </a:endParaRPr>
                    </a:p>
                  </a:txBody>
                  <a:tcPr marL="71333" marR="71333" marT="35667" marB="35667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dirty="0">
                          <a:effectLst/>
                          <a:hlinkClick r:id="rId2"/>
                        </a:rPr>
                        <a:t>https://data.marine.copernicus.eu/product/GLOBAL_ANALYSISFORECAST_WAV_001_027/services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</a:p>
                  </a:txBody>
                  <a:tcPr marL="71333" marR="71333" marT="35667" marB="35667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602077"/>
                  </a:ext>
                </a:extLst>
              </a:tr>
              <a:tr h="111648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  <a:latin typeface="ui-monospace"/>
                        </a:rPr>
                        <a:t>marine_viento</a:t>
                      </a:r>
                      <a:endParaRPr lang="en-US" sz="1400">
                        <a:effectLst/>
                      </a:endParaRPr>
                    </a:p>
                  </a:txBody>
                  <a:tcPr marL="71333" marR="71333" marT="35667" marB="35667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dirty="0">
                          <a:effectLst/>
                          <a:latin typeface="ui-monospace"/>
                        </a:rPr>
                        <a:t>cmems_obs-wind_glo_phy_nrt_l3-metopb-ascat-des-0.125deg_P1D-i</a:t>
                      </a:r>
                      <a:endParaRPr lang="en-US" sz="1400" dirty="0">
                        <a:effectLst/>
                      </a:endParaRPr>
                    </a:p>
                  </a:txBody>
                  <a:tcPr marL="71333" marR="71333" marT="35667" marB="35667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  <a:latin typeface="ui-monospace"/>
                        </a:rPr>
                        <a:t>wind_speed</a:t>
                      </a:r>
                      <a:r>
                        <a:rPr lang="en-US" sz="1400">
                          <a:effectLst/>
                        </a:rPr>
                        <a:t>, </a:t>
                      </a:r>
                      <a:r>
                        <a:rPr lang="en-US" sz="1400">
                          <a:effectLst/>
                          <a:latin typeface="ui-monospace"/>
                        </a:rPr>
                        <a:t>eastward_wind</a:t>
                      </a:r>
                      <a:r>
                        <a:rPr lang="en-US" sz="1400">
                          <a:effectLst/>
                        </a:rPr>
                        <a:t>, </a:t>
                      </a:r>
                      <a:r>
                        <a:rPr lang="en-US" sz="1400">
                          <a:effectLst/>
                          <a:latin typeface="ui-monospace"/>
                        </a:rPr>
                        <a:t>northward_wind</a:t>
                      </a:r>
                      <a:r>
                        <a:rPr lang="en-US" sz="1400">
                          <a:effectLst/>
                        </a:rPr>
                        <a:t>, </a:t>
                      </a:r>
                      <a:r>
                        <a:rPr lang="en-US" sz="1400">
                          <a:effectLst/>
                          <a:latin typeface="ui-monospace"/>
                        </a:rPr>
                        <a:t>wind_to_dir</a:t>
                      </a:r>
                      <a:endParaRPr lang="en-US" sz="1400">
                        <a:effectLst/>
                      </a:endParaRPr>
                    </a:p>
                  </a:txBody>
                  <a:tcPr marL="71333" marR="71333" marT="35667" marB="35667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dirty="0">
                          <a:effectLst/>
                          <a:hlinkClick r:id="rId3"/>
                        </a:rPr>
                        <a:t>https://data.marine.copernicus.eu/product/WIND_GLO_PHY_L3_NRT_012_002/services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</a:p>
                  </a:txBody>
                  <a:tcPr marL="71333" marR="71333" marT="35667" marB="35667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4679494"/>
                  </a:ext>
                </a:extLst>
              </a:tr>
              <a:tr h="76607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>
                          <a:effectLst/>
                          <a:latin typeface="ui-monospace"/>
                        </a:rPr>
                        <a:t>marine_corriente</a:t>
                      </a:r>
                      <a:endParaRPr lang="en-US" sz="1400">
                        <a:effectLst/>
                      </a:endParaRPr>
                    </a:p>
                  </a:txBody>
                  <a:tcPr marL="71333" marR="71333" marT="35667" marB="35667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dirty="0">
                          <a:effectLst/>
                          <a:latin typeface="ui-monospace"/>
                        </a:rPr>
                        <a:t>cmems_mod_glo_phy-cur_anfc_0.083deg_P1D-m</a:t>
                      </a:r>
                      <a:endParaRPr lang="en-US" sz="1400" dirty="0">
                        <a:effectLst/>
                      </a:endParaRPr>
                    </a:p>
                  </a:txBody>
                  <a:tcPr marL="71333" marR="71333" marT="35667" marB="35667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dirty="0" err="1">
                          <a:effectLst/>
                          <a:latin typeface="ui-monospace"/>
                        </a:rPr>
                        <a:t>uo</a:t>
                      </a:r>
                      <a:r>
                        <a:rPr lang="en-US" sz="1400" dirty="0">
                          <a:effectLst/>
                        </a:rPr>
                        <a:t>, </a:t>
                      </a:r>
                      <a:r>
                        <a:rPr lang="en-US" sz="1400" dirty="0" err="1">
                          <a:effectLst/>
                          <a:latin typeface="ui-monospace"/>
                        </a:rPr>
                        <a:t>vo</a:t>
                      </a:r>
                      <a:r>
                        <a:rPr lang="en-US" sz="1400" dirty="0">
                          <a:effectLst/>
                        </a:rPr>
                        <a:t>, </a:t>
                      </a:r>
                      <a:r>
                        <a:rPr lang="en-US" sz="1400" dirty="0">
                          <a:effectLst/>
                          <a:latin typeface="ui-monospace"/>
                        </a:rPr>
                        <a:t>zos</a:t>
                      </a:r>
                      <a:r>
                        <a:rPr lang="en-US" sz="1400" dirty="0">
                          <a:effectLst/>
                        </a:rPr>
                        <a:t>, </a:t>
                      </a:r>
                      <a:r>
                        <a:rPr lang="en-US" sz="1400" dirty="0" err="1">
                          <a:effectLst/>
                          <a:latin typeface="ui-monospace"/>
                        </a:rPr>
                        <a:t>thetao</a:t>
                      </a:r>
                      <a:endParaRPr lang="en-US" sz="1400" dirty="0">
                        <a:effectLst/>
                      </a:endParaRPr>
                    </a:p>
                  </a:txBody>
                  <a:tcPr marL="71333" marR="71333" marT="35667" marB="35667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400" dirty="0">
                          <a:effectLst/>
                          <a:hlinkClick r:id="rId4"/>
                        </a:rPr>
                        <a:t>https://data.marine.copernicus.eu/product/GLOBAL_ANALYSISFORECAST_PHY_001_024/services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</a:p>
                  </a:txBody>
                  <a:tcPr marL="71333" marR="71333" marT="35667" marB="35667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85544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5642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F41E4-5E0A-2F9A-3BD6-D086FCF2A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Variables de </a:t>
            </a:r>
            <a:r>
              <a:rPr lang="en-US" b="1" dirty="0" err="1"/>
              <a:t>entorno</a:t>
            </a:r>
            <a:r>
              <a:rPr lang="en-US" b="1" dirty="0"/>
              <a:t> </a:t>
            </a:r>
            <a:r>
              <a:rPr lang="en-US" b="1" dirty="0" err="1"/>
              <a:t>relevantes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3EFA579-C2CD-450E-F6C4-7161AB8BEF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7943093"/>
              </p:ext>
            </p:extLst>
          </p:nvPr>
        </p:nvGraphicFramePr>
        <p:xfrm>
          <a:off x="838200" y="2153757"/>
          <a:ext cx="10634272" cy="3017520"/>
        </p:xfrm>
        <a:graphic>
          <a:graphicData uri="http://schemas.openxmlformats.org/drawingml/2006/table">
            <a:tbl>
              <a:tblPr/>
              <a:tblGrid>
                <a:gridCol w="5317136">
                  <a:extLst>
                    <a:ext uri="{9D8B030D-6E8A-4147-A177-3AD203B41FA5}">
                      <a16:colId xmlns:a16="http://schemas.microsoft.com/office/drawing/2014/main" val="2551299269"/>
                    </a:ext>
                  </a:extLst>
                </a:gridCol>
                <a:gridCol w="5317136">
                  <a:extLst>
                    <a:ext uri="{9D8B030D-6E8A-4147-A177-3AD203B41FA5}">
                      <a16:colId xmlns:a16="http://schemas.microsoft.com/office/drawing/2014/main" val="10843167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b="1">
                          <a:effectLst/>
                        </a:rPr>
                        <a:t>Variable</a:t>
                      </a:r>
                    </a:p>
                  </a:txBody>
                  <a:tcPr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b="1">
                          <a:effectLst/>
                        </a:rPr>
                        <a:t>Rol</a:t>
                      </a:r>
                    </a:p>
                  </a:txBody>
                  <a:tcPr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569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  <a:latin typeface="ui-monospace"/>
                        </a:rPr>
                        <a:t>COPERNICUS_USERNAME</a:t>
                      </a:r>
                      <a:r>
                        <a:rPr lang="en-US">
                          <a:effectLst/>
                        </a:rPr>
                        <a:t> / </a:t>
                      </a:r>
                      <a:r>
                        <a:rPr lang="en-US">
                          <a:effectLst/>
                          <a:latin typeface="ui-monospace"/>
                        </a:rPr>
                        <a:t>COPERNICUS_PASSWORD</a:t>
                      </a:r>
                      <a:endParaRPr lang="en-US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Obligatorias para </a:t>
                      </a:r>
                      <a:r>
                        <a:rPr lang="en-US">
                          <a:effectLst/>
                          <a:latin typeface="ui-monospace"/>
                        </a:rPr>
                        <a:t>subset</a:t>
                      </a:r>
                      <a:r>
                        <a:rPr lang="en-US">
                          <a:effectLst/>
                        </a:rPr>
                        <a:t>.</a:t>
                      </a:r>
                    </a:p>
                  </a:txBody>
                  <a:tcPr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5115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  <a:latin typeface="ui-monospace"/>
                        </a:rPr>
                        <a:t>MARINE_WAVE_DATASET_ID</a:t>
                      </a:r>
                      <a:r>
                        <a:rPr lang="en-US">
                          <a:effectLst/>
                        </a:rPr>
                        <a:t>, </a:t>
                      </a:r>
                      <a:r>
                        <a:rPr lang="en-US">
                          <a:effectLst/>
                          <a:latin typeface="ui-monospace"/>
                        </a:rPr>
                        <a:t>MARINE_WIND_DATASET_ID</a:t>
                      </a:r>
                      <a:r>
                        <a:rPr lang="en-US">
                          <a:effectLst/>
                        </a:rPr>
                        <a:t>, </a:t>
                      </a:r>
                      <a:r>
                        <a:rPr lang="en-US">
                          <a:effectLst/>
                          <a:latin typeface="ui-monospace"/>
                        </a:rPr>
                        <a:t>MARINE_CURRENT_DATASET_ID</a:t>
                      </a:r>
                      <a:endParaRPr lang="en-US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>
                          <a:effectLst/>
                        </a:rPr>
                        <a:t>Sustituyen el </a:t>
                      </a:r>
                      <a:r>
                        <a:rPr lang="es-ES">
                          <a:effectLst/>
                          <a:latin typeface="ui-monospace"/>
                        </a:rPr>
                        <a:t>dataset_id</a:t>
                      </a:r>
                      <a:r>
                        <a:rPr lang="es-ES">
                          <a:effectLst/>
                        </a:rPr>
                        <a:t> por defecto del tema.</a:t>
                      </a:r>
                    </a:p>
                  </a:txBody>
                  <a:tcPr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4659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  <a:latin typeface="ui-monospace"/>
                        </a:rPr>
                        <a:t>MARINE_WAVE_VARIABLES</a:t>
                      </a:r>
                      <a:r>
                        <a:rPr lang="en-US">
                          <a:effectLst/>
                        </a:rPr>
                        <a:t>, </a:t>
                      </a:r>
                      <a:r>
                        <a:rPr lang="en-US">
                          <a:effectLst/>
                          <a:latin typeface="ui-monospace"/>
                        </a:rPr>
                        <a:t>MARINE_WIND_VARIABLES</a:t>
                      </a:r>
                      <a:r>
                        <a:rPr lang="en-US">
                          <a:effectLst/>
                        </a:rPr>
                        <a:t>, </a:t>
                      </a:r>
                      <a:r>
                        <a:rPr lang="en-US">
                          <a:effectLst/>
                          <a:latin typeface="ui-monospace"/>
                        </a:rPr>
                        <a:t>MARINE_CURRENT_VARIABLES</a:t>
                      </a:r>
                      <a:endParaRPr lang="en-US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>
                          <a:effectLst/>
                        </a:rPr>
                        <a:t>Lista separada por comas; debe coincidir con el dataset elegido.</a:t>
                      </a:r>
                    </a:p>
                  </a:txBody>
                  <a:tcPr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31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  <a:latin typeface="ui-monospace"/>
                        </a:rPr>
                        <a:t>MARINE_DAYS_BACK</a:t>
                      </a:r>
                      <a:endParaRPr lang="en-US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>
                          <a:effectLst/>
                        </a:rPr>
                        <a:t>Días hacia atrás desde “ahora” para </a:t>
                      </a:r>
                      <a:r>
                        <a:rPr lang="es-ES">
                          <a:effectLst/>
                          <a:latin typeface="ui-monospace"/>
                        </a:rPr>
                        <a:t>start_dt</a:t>
                      </a:r>
                      <a:r>
                        <a:rPr lang="es-ES">
                          <a:effectLst/>
                        </a:rPr>
                        <a:t> (por defecto 1).</a:t>
                      </a:r>
                    </a:p>
                  </a:txBody>
                  <a:tcPr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31809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  <a:latin typeface="ui-monospace"/>
                        </a:rPr>
                        <a:t>MARINE_AOI_GEOJSON</a:t>
                      </a:r>
                      <a:endParaRPr lang="en-US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dirty="0">
                          <a:effectLst/>
                        </a:rPr>
                        <a:t>Ruta alternativa al </a:t>
                      </a:r>
                      <a:r>
                        <a:rPr lang="es-ES" dirty="0" err="1">
                          <a:effectLst/>
                        </a:rPr>
                        <a:t>GeoJSON</a:t>
                      </a:r>
                      <a:r>
                        <a:rPr lang="es-ES" dirty="0">
                          <a:effectLst/>
                        </a:rPr>
                        <a:t> del área de influencia.</a:t>
                      </a:r>
                    </a:p>
                  </a:txBody>
                  <a:tcPr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78111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5124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90F7C-4DED-2EBF-D83B-0CF4E2014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calculo_tiempo_estimado.py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AAF3F-DD61-D633-9AE1-0305F5E289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946" y="1825625"/>
            <a:ext cx="10699854" cy="4351338"/>
          </a:xfrm>
        </p:spPr>
        <p:txBody>
          <a:bodyPr/>
          <a:lstStyle/>
          <a:p>
            <a:pPr marL="0" indent="0">
              <a:buNone/>
            </a:pPr>
            <a:r>
              <a:rPr lang="es-ES" b="1" dirty="0"/>
              <a:t>Propósito:</a:t>
            </a:r>
            <a:r>
              <a:rPr lang="es-ES" dirty="0"/>
              <a:t> estimar tiempo de navegación entre dos posiciones WGS84 usando condiciones marinas leídas de los últimos </a:t>
            </a:r>
            <a:r>
              <a:rPr lang="es-ES" dirty="0" err="1"/>
              <a:t>NetCDF</a:t>
            </a:r>
            <a:r>
              <a:rPr lang="es-ES" dirty="0"/>
              <a:t> descargados y un modelo de velocidad sobre el agua.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223FD45-5275-BE8A-060D-AF8410F320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2333908"/>
              </p:ext>
            </p:extLst>
          </p:nvPr>
        </p:nvGraphicFramePr>
        <p:xfrm>
          <a:off x="653946" y="4439603"/>
          <a:ext cx="10884108" cy="1737360"/>
        </p:xfrm>
        <a:graphic>
          <a:graphicData uri="http://schemas.openxmlformats.org/drawingml/2006/table">
            <a:tbl>
              <a:tblPr/>
              <a:tblGrid>
                <a:gridCol w="3224134">
                  <a:extLst>
                    <a:ext uri="{9D8B030D-6E8A-4147-A177-3AD203B41FA5}">
                      <a16:colId xmlns:a16="http://schemas.microsoft.com/office/drawing/2014/main" val="779814247"/>
                    </a:ext>
                  </a:extLst>
                </a:gridCol>
                <a:gridCol w="7659974">
                  <a:extLst>
                    <a:ext uri="{9D8B030D-6E8A-4147-A177-3AD203B41FA5}">
                      <a16:colId xmlns:a16="http://schemas.microsoft.com/office/drawing/2014/main" val="14146102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b="1">
                          <a:effectLst/>
                        </a:rPr>
                        <a:t>Ruta</a:t>
                      </a:r>
                    </a:p>
                  </a:txBody>
                  <a:tcPr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b="1">
                          <a:effectLst/>
                        </a:rPr>
                        <a:t>Uso</a:t>
                      </a:r>
                    </a:p>
                  </a:txBody>
                  <a:tcPr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39752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  <a:latin typeface="ui-monospace"/>
                        </a:rPr>
                        <a:t>data/raw/marine_oleaje/</a:t>
                      </a:r>
                      <a:endParaRPr lang="en-US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dirty="0">
                          <a:effectLst/>
                        </a:rPr>
                        <a:t>Altura de ola significativa</a:t>
                      </a:r>
                    </a:p>
                  </a:txBody>
                  <a:tcPr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49499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  <a:latin typeface="ui-monospace"/>
                        </a:rPr>
                        <a:t>data/raw/marine_viento/</a:t>
                      </a:r>
                      <a:endParaRPr lang="en-US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>
                          <a:effectLst/>
                        </a:rPr>
                        <a:t>Viento: magnitud (escalar o módulo u,v) y metadatos de dirección (</a:t>
                      </a:r>
                      <a:r>
                        <a:rPr lang="es-ES">
                          <a:effectLst/>
                          <a:latin typeface="ui-monospace"/>
                        </a:rPr>
                        <a:t>wind_nc_variable</a:t>
                      </a:r>
                      <a:r>
                        <a:rPr lang="es-ES">
                          <a:effectLst/>
                        </a:rPr>
                        <a:t>).</a:t>
                      </a:r>
                    </a:p>
                  </a:txBody>
                  <a:tcPr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73613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  <a:latin typeface="ui-monospace"/>
                        </a:rPr>
                        <a:t>data/raw/marine_corriente/</a:t>
                      </a:r>
                      <a:endParaRPr lang="en-US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ES" dirty="0">
                          <a:effectLst/>
                        </a:rPr>
                        <a:t>Componentes de corriente (</a:t>
                      </a:r>
                      <a:r>
                        <a:rPr lang="es-ES" dirty="0" err="1">
                          <a:effectLst/>
                          <a:latin typeface="ui-monospace"/>
                        </a:rPr>
                        <a:t>uo</a:t>
                      </a:r>
                      <a:r>
                        <a:rPr lang="es-ES" dirty="0">
                          <a:effectLst/>
                        </a:rPr>
                        <a:t>/</a:t>
                      </a:r>
                      <a:r>
                        <a:rPr lang="es-ES" dirty="0" err="1">
                          <a:effectLst/>
                          <a:latin typeface="ui-monospace"/>
                        </a:rPr>
                        <a:t>vo</a:t>
                      </a:r>
                      <a:r>
                        <a:rPr lang="es-ES" dirty="0">
                          <a:effectLst/>
                        </a:rPr>
                        <a:t> preferentes) para proyectar sobre la ruta.</a:t>
                      </a:r>
                    </a:p>
                  </a:txBody>
                  <a:tcPr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980067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4855A35-54E2-C8D9-7D52-C07B51727752}"/>
              </a:ext>
            </a:extLst>
          </p:cNvPr>
          <p:cNvSpPr txBox="1"/>
          <p:nvPr/>
        </p:nvSpPr>
        <p:spPr>
          <a:xfrm>
            <a:off x="534025" y="3429000"/>
            <a:ext cx="103338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dirty="0"/>
              <a:t>En cada petición se toma el fichero .</a:t>
            </a:r>
            <a:r>
              <a:rPr lang="es-ES" sz="2000" dirty="0" err="1"/>
              <a:t>nc</a:t>
            </a:r>
            <a:r>
              <a:rPr lang="es-ES" sz="2000" dirty="0"/>
              <a:t> más reciente (por fecha de modificación) en: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390040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69EC5-CB95-6DA0-ED5E-95C675DF5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Conceptualmente el modelo hace: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B5152-197E-813A-B4BA-2FC439BC77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Calcula la </a:t>
            </a:r>
            <a:r>
              <a:rPr lang="es-ES" b="1" dirty="0"/>
              <a:t>distancia geodésica</a:t>
            </a:r>
            <a:r>
              <a:rPr lang="es-ES" dirty="0"/>
              <a:t> entre las coordenadas (</a:t>
            </a:r>
            <a:r>
              <a:rPr lang="es-ES" dirty="0" err="1"/>
              <a:t>Haversine</a:t>
            </a:r>
            <a:r>
              <a:rPr lang="es-ES" dirty="0"/>
              <a:t>). </a:t>
            </a:r>
          </a:p>
          <a:p>
            <a:r>
              <a:rPr lang="es-ES" dirty="0"/>
              <a:t>Obtiene el </a:t>
            </a:r>
            <a:r>
              <a:rPr lang="es-ES" b="1" dirty="0"/>
              <a:t>rumbo de navegación</a:t>
            </a:r>
            <a:r>
              <a:rPr lang="es-ES" dirty="0"/>
              <a:t>. </a:t>
            </a:r>
          </a:p>
          <a:p>
            <a:r>
              <a:rPr lang="es-ES" dirty="0"/>
              <a:t>Consulta </a:t>
            </a:r>
            <a:r>
              <a:rPr lang="es-ES" b="1" dirty="0"/>
              <a:t>datos marinos recientes</a:t>
            </a:r>
            <a:r>
              <a:rPr lang="es-ES" dirty="0"/>
              <a:t> del </a:t>
            </a:r>
            <a:r>
              <a:rPr lang="es-ES" b="1" dirty="0" err="1"/>
              <a:t>Copernicus</a:t>
            </a:r>
            <a:r>
              <a:rPr lang="es-ES" b="1" dirty="0"/>
              <a:t> Marine </a:t>
            </a:r>
            <a:r>
              <a:rPr lang="es-ES" b="1" dirty="0" err="1"/>
              <a:t>Service</a:t>
            </a:r>
            <a:r>
              <a:rPr lang="es-ES" dirty="0"/>
              <a:t>. </a:t>
            </a:r>
          </a:p>
          <a:p>
            <a:r>
              <a:rPr lang="es-ES" dirty="0"/>
              <a:t>Proyecta </a:t>
            </a:r>
            <a:r>
              <a:rPr lang="es-ES" b="1" dirty="0"/>
              <a:t>corriente, viento y oleaje</a:t>
            </a:r>
            <a:r>
              <a:rPr lang="es-ES" dirty="0"/>
              <a:t> sobre la dirección de la ruta. </a:t>
            </a:r>
          </a:p>
          <a:p>
            <a:r>
              <a:rPr lang="es-ES" dirty="0"/>
              <a:t>Ajusta la </a:t>
            </a:r>
            <a:r>
              <a:rPr lang="es-ES" b="1" dirty="0"/>
              <a:t>velocidad base del barco</a:t>
            </a:r>
            <a:r>
              <a:rPr lang="es-ES" dirty="0"/>
              <a:t>. </a:t>
            </a:r>
          </a:p>
          <a:p>
            <a:r>
              <a:rPr lang="es-ES" dirty="0"/>
              <a:t>Calcula el </a:t>
            </a:r>
            <a:r>
              <a:rPr lang="es-ES" b="1" dirty="0"/>
              <a:t>tiempo estimado de navegación</a:t>
            </a:r>
            <a:r>
              <a:rPr lang="es-E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58783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4E04B-50FD-79D6-4C84-283FBD1DB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Visión general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089838-0CE6-D7F0-A015-8AFE72B657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El programa calcula cuántas horas (y minutos) podría tardar un barco en ir del punto A al punto B. </a:t>
            </a:r>
          </a:p>
          <a:p>
            <a:pPr marL="0" indent="0">
              <a:buNone/>
            </a:pPr>
            <a:r>
              <a:rPr lang="es-ES" dirty="0"/>
              <a:t>No hace enrutamiento costa a costa: usa una distancia</a:t>
            </a:r>
            <a:r>
              <a:rPr lang="es-ES" b="1" dirty="0"/>
              <a:t> </a:t>
            </a:r>
            <a:r>
              <a:rPr lang="es-ES" dirty="0" err="1"/>
              <a:t>Haversine</a:t>
            </a:r>
            <a:r>
              <a:rPr lang="es-ES" dirty="0"/>
              <a:t> y una velocidad efectiva que combina velocidad base, corriente a favor/en contra, y penalizaciones por oleaje y viento.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309718-D513-1875-B89D-4D21C6D11B7F}"/>
              </a:ext>
            </a:extLst>
          </p:cNvPr>
          <p:cNvSpPr/>
          <p:nvPr/>
        </p:nvSpPr>
        <p:spPr>
          <a:xfrm>
            <a:off x="866935" y="4347148"/>
            <a:ext cx="1676404" cy="9893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Entradas</a:t>
            </a:r>
          </a:p>
          <a:p>
            <a:pPr algn="ctr"/>
            <a:r>
              <a:rPr lang="en-US" dirty="0" err="1"/>
              <a:t>lat</a:t>
            </a:r>
            <a:r>
              <a:rPr lang="en-US" dirty="0"/>
              <a:t>/</a:t>
            </a:r>
            <a:r>
              <a:rPr lang="en-US" dirty="0" err="1"/>
              <a:t>lon</a:t>
            </a:r>
            <a:r>
              <a:rPr lang="en-US" dirty="0"/>
              <a:t> (A,B)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47E6D8-88F8-3AC7-4A36-DB5897D0CD33}"/>
              </a:ext>
            </a:extLst>
          </p:cNvPr>
          <p:cNvSpPr/>
          <p:nvPr/>
        </p:nvSpPr>
        <p:spPr>
          <a:xfrm>
            <a:off x="3882452" y="4347148"/>
            <a:ext cx="3792512" cy="9893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estimate_conditionsoleaje</a:t>
            </a:r>
            <a:r>
              <a:rPr lang="en-US" dirty="0"/>
              <a:t>, </a:t>
            </a:r>
            <a:r>
              <a:rPr lang="en-US" dirty="0" err="1"/>
              <a:t>viento</a:t>
            </a:r>
            <a:r>
              <a:rPr lang="en-US" dirty="0"/>
              <a:t>, </a:t>
            </a:r>
            <a:r>
              <a:rPr lang="en-US" dirty="0" err="1"/>
              <a:t>corriente</a:t>
            </a:r>
            <a:r>
              <a:rPr lang="en-US" dirty="0"/>
              <a:t>(</a:t>
            </a:r>
            <a:r>
              <a:rPr lang="en-US" dirty="0" err="1"/>
              <a:t>último</a:t>
            </a:r>
            <a:r>
              <a:rPr lang="en-US" dirty="0"/>
              <a:t> .</a:t>
            </a:r>
            <a:r>
              <a:rPr lang="en-US" dirty="0" err="1"/>
              <a:t>nc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carpeta</a:t>
            </a:r>
            <a:r>
              <a:rPr lang="en-US" dirty="0"/>
              <a:t>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81F8A4-A58B-7233-8600-EEABA6A18ABE}"/>
              </a:ext>
            </a:extLst>
          </p:cNvPr>
          <p:cNvSpPr/>
          <p:nvPr/>
        </p:nvSpPr>
        <p:spPr>
          <a:xfrm>
            <a:off x="8759252" y="4347148"/>
            <a:ext cx="2594548" cy="9893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estimate_travel_time</a:t>
            </a:r>
            <a:r>
              <a:rPr lang="en-US" dirty="0"/>
              <a:t> (V)</a:t>
            </a: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FEA603CE-DB69-9F7C-4631-95D6E0B71C18}"/>
              </a:ext>
            </a:extLst>
          </p:cNvPr>
          <p:cNvSpPr/>
          <p:nvPr/>
        </p:nvSpPr>
        <p:spPr>
          <a:xfrm rot="16200000">
            <a:off x="3015158" y="4489554"/>
            <a:ext cx="395475" cy="704537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C9D0F6E2-9A0E-69DE-8448-D811C0827E42}"/>
              </a:ext>
            </a:extLst>
          </p:cNvPr>
          <p:cNvSpPr/>
          <p:nvPr/>
        </p:nvSpPr>
        <p:spPr>
          <a:xfrm rot="16200000">
            <a:off x="8019370" y="4507409"/>
            <a:ext cx="395475" cy="704537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9834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9BBBF-24A3-B55E-08C8-F03EBC12D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Entradas y </a:t>
            </a:r>
            <a:r>
              <a:rPr lang="en-US" b="1" dirty="0" err="1"/>
              <a:t>datos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AB3C713-AFFD-07A6-FF06-0A88F663F0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9171441"/>
              </p:ext>
            </p:extLst>
          </p:nvPr>
        </p:nvGraphicFramePr>
        <p:xfrm>
          <a:off x="838200" y="1690688"/>
          <a:ext cx="10644266" cy="4353435"/>
        </p:xfrm>
        <a:graphic>
          <a:graphicData uri="http://schemas.openxmlformats.org/drawingml/2006/table">
            <a:tbl>
              <a:tblPr/>
              <a:tblGrid>
                <a:gridCol w="3508948">
                  <a:extLst>
                    <a:ext uri="{9D8B030D-6E8A-4147-A177-3AD203B41FA5}">
                      <a16:colId xmlns:a16="http://schemas.microsoft.com/office/drawing/2014/main" val="1864344839"/>
                    </a:ext>
                  </a:extLst>
                </a:gridCol>
                <a:gridCol w="7135318">
                  <a:extLst>
                    <a:ext uri="{9D8B030D-6E8A-4147-A177-3AD203B41FA5}">
                      <a16:colId xmlns:a16="http://schemas.microsoft.com/office/drawing/2014/main" val="2285409510"/>
                    </a:ext>
                  </a:extLst>
                </a:gridCol>
              </a:tblGrid>
              <a:tr h="32232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Entrada</a:t>
                      </a:r>
                    </a:p>
                  </a:txBody>
                  <a:tcPr marL="80580" marR="80580" marT="40290" marB="4029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Uso</a:t>
                      </a:r>
                    </a:p>
                  </a:txBody>
                  <a:tcPr marL="80580" marR="80580" marT="40290" marB="4029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5564219"/>
                  </a:ext>
                </a:extLst>
              </a:tr>
              <a:tr h="104754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  <a:latin typeface="ui-monospace"/>
                        </a:rPr>
                        <a:t>start_lat</a:t>
                      </a:r>
                      <a:r>
                        <a:rPr lang="en-US" sz="1600">
                          <a:effectLst/>
                        </a:rPr>
                        <a:t>, </a:t>
                      </a:r>
                      <a:r>
                        <a:rPr lang="en-US" sz="1600">
                          <a:effectLst/>
                          <a:latin typeface="ui-monospace"/>
                        </a:rPr>
                        <a:t>start_lon</a:t>
                      </a:r>
                      <a:endParaRPr lang="en-US" sz="1600">
                        <a:effectLst/>
                      </a:endParaRPr>
                    </a:p>
                  </a:txBody>
                  <a:tcPr marL="80580" marR="80580" marT="40290" marB="4029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1600">
                          <a:effectLst/>
                        </a:rPr>
                        <a:t>Punto A (origen / barco). Aquí se interpolan oleaje, viento y corriente (vecino más cercano en la rejilla NetCDF).</a:t>
                      </a:r>
                    </a:p>
                  </a:txBody>
                  <a:tcPr marL="80580" marR="80580" marT="40290" marB="4029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8191649"/>
                  </a:ext>
                </a:extLst>
              </a:tr>
              <a:tr h="80580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  <a:latin typeface="ui-monospace"/>
                        </a:rPr>
                        <a:t>end_lat</a:t>
                      </a:r>
                      <a:r>
                        <a:rPr lang="en-US" sz="1600">
                          <a:effectLst/>
                        </a:rPr>
                        <a:t>, </a:t>
                      </a:r>
                      <a:r>
                        <a:rPr lang="en-US" sz="1600">
                          <a:effectLst/>
                          <a:latin typeface="ui-monospace"/>
                        </a:rPr>
                        <a:t>end_lon</a:t>
                      </a:r>
                      <a:endParaRPr lang="en-US" sz="1600">
                        <a:effectLst/>
                      </a:endParaRPr>
                    </a:p>
                  </a:txBody>
                  <a:tcPr marL="80580" marR="80580" marT="40290" marB="4029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1600">
                          <a:effectLst/>
                        </a:rPr>
                        <a:t>Punto B (destino). Solo para distancia, rumbo inicial y proyección de la corriente sobre la dirección A→B.</a:t>
                      </a:r>
                    </a:p>
                  </a:txBody>
                  <a:tcPr marL="80580" marR="80580" marT="40290" marB="4029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6674318"/>
                  </a:ext>
                </a:extLst>
              </a:tr>
              <a:tr h="56406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  <a:latin typeface="ui-monospace"/>
                        </a:rPr>
                        <a:t>boat_speed_kts</a:t>
                      </a:r>
                      <a:r>
                        <a:rPr lang="en-US" sz="1600">
                          <a:effectLst/>
                        </a:rPr>
                        <a:t> (opcional)</a:t>
                      </a:r>
                    </a:p>
                  </a:txBody>
                  <a:tcPr marL="80580" marR="80580" marT="40290" marB="4029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1600">
                          <a:effectLst/>
                        </a:rPr>
                        <a:t>Sustituye la velocidad base por defecto del modelo (nudos).</a:t>
                      </a:r>
                    </a:p>
                  </a:txBody>
                  <a:tcPr marL="80580" marR="80580" marT="40290" marB="4029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6918930"/>
                  </a:ext>
                </a:extLst>
              </a:tr>
              <a:tr h="80580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1600">
                          <a:effectLst/>
                        </a:rPr>
                        <a:t>Archivos </a:t>
                      </a:r>
                      <a:r>
                        <a:rPr lang="es-ES" sz="1600">
                          <a:effectLst/>
                          <a:latin typeface="ui-monospace"/>
                        </a:rPr>
                        <a:t>.nc</a:t>
                      </a:r>
                      <a:r>
                        <a:rPr lang="es-ES" sz="1600">
                          <a:effectLst/>
                        </a:rPr>
                        <a:t> en </a:t>
                      </a:r>
                      <a:r>
                        <a:rPr lang="es-ES" sz="1600">
                          <a:effectLst/>
                          <a:latin typeface="ui-monospace"/>
                        </a:rPr>
                        <a:t>data/raw/</a:t>
                      </a:r>
                      <a:endParaRPr lang="es-ES" sz="1600">
                        <a:effectLst/>
                      </a:endParaRPr>
                    </a:p>
                  </a:txBody>
                  <a:tcPr marL="80580" marR="80580" marT="40290" marB="4029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El fichero más reciente por carpeta: </a:t>
                      </a:r>
                      <a:r>
                        <a:rPr lang="en-US" sz="1600">
                          <a:effectLst/>
                          <a:latin typeface="ui-monospace"/>
                        </a:rPr>
                        <a:t>marine_oleaje</a:t>
                      </a:r>
                      <a:r>
                        <a:rPr lang="en-US" sz="1600">
                          <a:effectLst/>
                        </a:rPr>
                        <a:t>, </a:t>
                      </a:r>
                      <a:r>
                        <a:rPr lang="en-US" sz="1600">
                          <a:effectLst/>
                          <a:latin typeface="ui-monospace"/>
                        </a:rPr>
                        <a:t>marine_viento</a:t>
                      </a:r>
                      <a:r>
                        <a:rPr lang="en-US" sz="1600">
                          <a:effectLst/>
                        </a:rPr>
                        <a:t>, </a:t>
                      </a:r>
                      <a:r>
                        <a:rPr lang="en-US" sz="1600">
                          <a:effectLst/>
                          <a:latin typeface="ui-monospace"/>
                        </a:rPr>
                        <a:t>marine_corriente</a:t>
                      </a:r>
                      <a:r>
                        <a:rPr lang="en-US" sz="1600">
                          <a:effectLst/>
                        </a:rPr>
                        <a:t>.</a:t>
                      </a:r>
                    </a:p>
                  </a:txBody>
                  <a:tcPr marL="80580" marR="80580" marT="40290" marB="4029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1573811"/>
                  </a:ext>
                </a:extLst>
              </a:tr>
              <a:tr h="80580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Variables de entorno </a:t>
                      </a:r>
                      <a:r>
                        <a:rPr lang="en-US" sz="1600">
                          <a:effectLst/>
                          <a:latin typeface="ui-monospace"/>
                        </a:rPr>
                        <a:t>MARINE_*</a:t>
                      </a:r>
                      <a:endParaRPr lang="en-US" sz="1600">
                        <a:effectLst/>
                      </a:endParaRPr>
                    </a:p>
                  </a:txBody>
                  <a:tcPr marL="80580" marR="80580" marT="40290" marB="4029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1600" dirty="0">
                          <a:effectLst/>
                        </a:rPr>
                        <a:t>Ajustan coeficientes del modelo (penalizaciones, velocidad mínima, base).</a:t>
                      </a:r>
                    </a:p>
                  </a:txBody>
                  <a:tcPr marL="80580" marR="80580" marT="40290" marB="4029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00091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18021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A1B6E-FA54-73E0-3235-D006B9202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Distancia entre A y B (</a:t>
            </a:r>
            <a:r>
              <a:rPr lang="es-ES" b="1" dirty="0" err="1"/>
              <a:t>Haversine</a:t>
            </a:r>
            <a:r>
              <a:rPr lang="es-ES" b="1" dirty="0"/>
              <a:t>)</a:t>
            </a:r>
            <a:endParaRPr lang="en-US" dirty="0"/>
          </a:p>
        </p:txBody>
      </p:sp>
      <p:pic>
        <p:nvPicPr>
          <p:cNvPr id="6146" name="Picture 2" descr="Distancias, coordenadas, SQL y Coldfusion">
            <a:extLst>
              <a:ext uri="{FF2B5EF4-FFF2-40B4-BE49-F238E27FC236}">
                <a16:creationId xmlns:a16="http://schemas.microsoft.com/office/drawing/2014/main" id="{8DD7972D-2ABA-807F-9398-CB7D5A7ADB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7945" y="1873692"/>
            <a:ext cx="3853799" cy="3853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54C2EDC-DAA1-28EA-7616-2CB14C3618CC}"/>
              </a:ext>
            </a:extLst>
          </p:cNvPr>
          <p:cNvSpPr txBox="1"/>
          <p:nvPr/>
        </p:nvSpPr>
        <p:spPr>
          <a:xfrm>
            <a:off x="5460168" y="1873692"/>
            <a:ext cx="60935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0" i="0" dirty="0">
                <a:solidFill>
                  <a:srgbClr val="1F2328"/>
                </a:solidFill>
                <a:effectLst/>
                <a:latin typeface="system-ui"/>
              </a:rPr>
              <a:t>Se calcula la distancia del </a:t>
            </a:r>
            <a:r>
              <a:rPr lang="es-ES" b="1" i="0" dirty="0">
                <a:solidFill>
                  <a:srgbClr val="1F2328"/>
                </a:solidFill>
                <a:effectLst/>
                <a:latin typeface="system-ui"/>
              </a:rPr>
              <a:t>arco de gran círculo</a:t>
            </a:r>
            <a:r>
              <a:rPr lang="es-ES" b="0" i="0" dirty="0">
                <a:solidFill>
                  <a:srgbClr val="1F2328"/>
                </a:solidFill>
                <a:effectLst/>
                <a:latin typeface="system-ui"/>
              </a:rPr>
              <a:t> sobre una esfera de radio </a:t>
            </a:r>
            <a:r>
              <a:rPr lang="es-ES" b="0" i="1" dirty="0">
                <a:solidFill>
                  <a:srgbClr val="1F2328"/>
                </a:solidFill>
                <a:effectLst/>
                <a:latin typeface="system-ui"/>
              </a:rPr>
              <a:t>R</a:t>
            </a:r>
            <a:r>
              <a:rPr lang="es-ES" b="0" i="0" dirty="0">
                <a:solidFill>
                  <a:srgbClr val="1F2328"/>
                </a:solidFill>
                <a:effectLst/>
                <a:latin typeface="system-ui"/>
              </a:rPr>
              <a:t> = 6371 km. 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078799-8B66-B45D-DD53-89565BDD57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0168" y="2703027"/>
            <a:ext cx="5286375" cy="28003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C8C43E1-670E-CC08-5E48-5D738A578E6F}"/>
              </a:ext>
            </a:extLst>
          </p:cNvPr>
          <p:cNvSpPr txBox="1"/>
          <p:nvPr/>
        </p:nvSpPr>
        <p:spPr>
          <a:xfrm>
            <a:off x="3845918" y="5910495"/>
            <a:ext cx="6900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0" i="0" dirty="0">
                <a:solidFill>
                  <a:srgbClr val="1F2328"/>
                </a:solidFill>
                <a:effectLst/>
                <a:latin typeface="system-ui"/>
              </a:rPr>
              <a:t>El resultado en km se convierte a </a:t>
            </a:r>
            <a:r>
              <a:rPr lang="es-ES" b="1" i="0" dirty="0">
                <a:solidFill>
                  <a:srgbClr val="1F2328"/>
                </a:solidFill>
                <a:effectLst/>
                <a:latin typeface="system-ui"/>
              </a:rPr>
              <a:t>millas náuticas</a:t>
            </a:r>
            <a:r>
              <a:rPr lang="es-ES" b="0" i="0" dirty="0">
                <a:solidFill>
                  <a:srgbClr val="1F2328"/>
                </a:solidFill>
                <a:effectLst/>
                <a:latin typeface="system-ui"/>
              </a:rPr>
              <a:t> dividiendo por 1,852.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03195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31490-1F25-C27E-4971-540243EE0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Rumbo </a:t>
            </a:r>
            <a:r>
              <a:rPr lang="en-US" b="1" dirty="0" err="1"/>
              <a:t>inicial</a:t>
            </a:r>
            <a:r>
              <a:rPr lang="en-US" b="1" dirty="0"/>
              <a:t> (bearing)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A57EE-EABE-A88A-FFA2-0E6636D21B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El </a:t>
            </a:r>
            <a:r>
              <a:rPr lang="es-ES" b="1" dirty="0"/>
              <a:t>rumbo</a:t>
            </a:r>
            <a:r>
              <a:rPr lang="es-ES" dirty="0"/>
              <a:t> desde A hacia B (en radianes, luego grados 0–360°) se usa para proyectar el vector de corriente (este, norte) sobre la </a:t>
            </a:r>
            <a:r>
              <a:rPr lang="es-ES" b="1" dirty="0"/>
              <a:t>dirección de la ruta</a:t>
            </a:r>
            <a:r>
              <a:rPr lang="es-ES" dirty="0"/>
              <a:t>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5D5420-915D-F18C-BE80-E8082641A0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9943" y="3063875"/>
            <a:ext cx="51435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8328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8ADBF-52BF-CF39-3B4B-3401C649C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Condiciones en el punto de partida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33853-09C6-3630-F32E-704346F7F6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Todas las magnitudes marinas se leen en </a:t>
            </a:r>
            <a:r>
              <a:rPr lang="es-ES" b="1" dirty="0"/>
              <a:t>(lat1, lon1)</a:t>
            </a:r>
            <a:r>
              <a:rPr lang="es-ES" dirty="0"/>
              <a:t>, último tiempo disponible en el </a:t>
            </a:r>
            <a:r>
              <a:rPr lang="es-ES" dirty="0" err="1"/>
              <a:t>NetCDF</a:t>
            </a:r>
            <a:r>
              <a:rPr lang="es-ES" dirty="0"/>
              <a:t>, y en profundidad se toma el primer nivel si hay dimensión vertical.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B4758B-DD88-979F-7C38-3CDD9ECBB6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127" t="27869" b="9879"/>
          <a:stretch>
            <a:fillRect/>
          </a:stretch>
        </p:blipFill>
        <p:spPr>
          <a:xfrm>
            <a:off x="8205328" y="2948706"/>
            <a:ext cx="3771038" cy="18439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7D3E0ED-600B-1FB6-619C-A8BBF7A8760E}"/>
              </a:ext>
            </a:extLst>
          </p:cNvPr>
          <p:cNvSpPr txBox="1"/>
          <p:nvPr/>
        </p:nvSpPr>
        <p:spPr>
          <a:xfrm>
            <a:off x="658318" y="3682753"/>
            <a:ext cx="767621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b="1" dirty="0"/>
              <a:t>Oleaje</a:t>
            </a:r>
            <a:r>
              <a:rPr lang="es-ES" sz="2400" dirty="0"/>
              <a:t>: altura significativa (VHM0) en metros. 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b="1" dirty="0"/>
              <a:t>Viento</a:t>
            </a:r>
            <a:r>
              <a:rPr lang="es-ES" sz="2400" dirty="0"/>
              <a:t>: magnitud en m/s y nudos mediante variable escalar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b="1" dirty="0"/>
              <a:t>Corriente</a:t>
            </a:r>
            <a:r>
              <a:rPr lang="es-ES" sz="2400" dirty="0"/>
              <a:t>: componentes </a:t>
            </a:r>
            <a:r>
              <a:rPr lang="es-ES" sz="2400" dirty="0" err="1"/>
              <a:t>uo</a:t>
            </a:r>
            <a:r>
              <a:rPr lang="es-ES" sz="2400" dirty="0"/>
              <a:t>, </a:t>
            </a:r>
            <a:r>
              <a:rPr lang="es-ES" sz="2400" dirty="0" err="1"/>
              <a:t>vo</a:t>
            </a:r>
            <a:r>
              <a:rPr lang="es-ES" sz="2400" dirty="0"/>
              <a:t> 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655640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4435B-4187-2C14-C008-7B6CBBDD7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Velocidad</a:t>
            </a:r>
            <a:r>
              <a:rPr lang="en-US" b="1" dirty="0"/>
              <a:t> </a:t>
            </a:r>
            <a:r>
              <a:rPr lang="en-US" b="1" dirty="0" err="1"/>
              <a:t>efectiva</a:t>
            </a:r>
            <a:r>
              <a:rPr lang="en-US" b="1" dirty="0"/>
              <a:t> (</a:t>
            </a:r>
            <a:r>
              <a:rPr lang="en-US" b="1" dirty="0" err="1"/>
              <a:t>nudos</a:t>
            </a:r>
            <a:r>
              <a:rPr lang="en-US" b="1" dirty="0"/>
              <a:t>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CBBB4F-7150-2EA0-B29A-E43BAAFAA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Primero se convierte la corriente a lo largo de la ruta a </a:t>
            </a:r>
            <a:r>
              <a:rPr lang="es-ES" b="1" dirty="0"/>
              <a:t>nudos</a:t>
            </a:r>
            <a:r>
              <a:rPr lang="es-ES" dirty="0"/>
              <a:t> (1 m/s ≈ 1,94384 </a:t>
            </a:r>
            <a:r>
              <a:rPr lang="es-ES" dirty="0" err="1"/>
              <a:t>kn</a:t>
            </a:r>
            <a:r>
              <a:rPr lang="es-ES" dirty="0"/>
              <a:t>). Luego se aplican penalizaciones lineales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n-US" i="1" dirty="0" err="1"/>
              <a:t>V</a:t>
            </a:r>
            <a:r>
              <a:rPr lang="en-US" i="1" baseline="-25000" dirty="0" err="1"/>
              <a:t>eff</a:t>
            </a:r>
            <a:r>
              <a:rPr lang="en-US" dirty="0"/>
              <a:t> = </a:t>
            </a:r>
            <a:r>
              <a:rPr lang="en-US" i="1" dirty="0" err="1"/>
              <a:t>V</a:t>
            </a:r>
            <a:r>
              <a:rPr lang="en-US" i="1" baseline="-25000" dirty="0" err="1"/>
              <a:t>base</a:t>
            </a:r>
            <a:r>
              <a:rPr lang="en-US" dirty="0"/>
              <a:t> + </a:t>
            </a:r>
            <a:r>
              <a:rPr lang="en-US" i="1" dirty="0" err="1"/>
              <a:t>V</a:t>
            </a:r>
            <a:r>
              <a:rPr lang="en-US" i="1" baseline="-25000" dirty="0" err="1"/>
              <a:t>curr</a:t>
            </a:r>
            <a:r>
              <a:rPr lang="en-US" dirty="0"/>
              <a:t> − </a:t>
            </a:r>
            <a:r>
              <a:rPr lang="en-US" i="1" dirty="0" err="1"/>
              <a:t>P</a:t>
            </a:r>
            <a:r>
              <a:rPr lang="en-US" i="1" baseline="-25000" dirty="0" err="1"/>
              <a:t>wave</a:t>
            </a:r>
            <a:r>
              <a:rPr lang="en-US" dirty="0"/>
              <a:t> − </a:t>
            </a:r>
            <a:r>
              <a:rPr lang="en-US" i="1" dirty="0" err="1"/>
              <a:t>P</a:t>
            </a:r>
            <a:r>
              <a:rPr lang="en-US" i="1" baseline="-25000" dirty="0" err="1"/>
              <a:t>wind</a:t>
            </a:r>
            <a:endParaRPr lang="en-US" i="1" baseline="-25000" dirty="0"/>
          </a:p>
          <a:p>
            <a:pPr marL="0" indent="0">
              <a:buNone/>
            </a:pPr>
            <a:endParaRPr lang="en-US" i="1" baseline="-25000" dirty="0"/>
          </a:p>
          <a:p>
            <a:pPr marL="0" indent="0">
              <a:buNone/>
            </a:pPr>
            <a:r>
              <a:rPr lang="es-ES" i="1" dirty="0" err="1"/>
              <a:t>V</a:t>
            </a:r>
            <a:r>
              <a:rPr lang="es-ES" i="1" baseline="-25000" dirty="0" err="1"/>
              <a:t>base</a:t>
            </a:r>
            <a:r>
              <a:rPr lang="es-ES" dirty="0"/>
              <a:t> </a:t>
            </a:r>
            <a:r>
              <a:rPr lang="es-ES" sz="2000" dirty="0"/>
              <a:t>es la velocidad base en nudos (MARINE_BASE_SPEED_KTS o la velocidad del barco si se indica). Finalmente:</a:t>
            </a:r>
          </a:p>
          <a:p>
            <a:pPr marL="0" indent="0">
              <a:buNone/>
            </a:pPr>
            <a:r>
              <a:rPr lang="en-US" i="1" dirty="0" err="1"/>
              <a:t>V</a:t>
            </a:r>
            <a:r>
              <a:rPr lang="en-US" i="1" baseline="-25000" dirty="0" err="1"/>
              <a:t>final</a:t>
            </a:r>
            <a:r>
              <a:rPr lang="en-US" dirty="0"/>
              <a:t> = max(</a:t>
            </a:r>
            <a:r>
              <a:rPr lang="en-US" i="1" dirty="0" err="1"/>
              <a:t>V</a:t>
            </a:r>
            <a:r>
              <a:rPr lang="en-US" i="1" baseline="-25000" dirty="0" err="1"/>
              <a:t>eff</a:t>
            </a:r>
            <a:r>
              <a:rPr lang="en-US" dirty="0"/>
              <a:t>, </a:t>
            </a:r>
            <a:r>
              <a:rPr lang="en-US" sz="2400" dirty="0"/>
              <a:t>MARINE_MIN_SPEED_KTS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953798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2072B-A626-7A00-F80A-06C6EA1AB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Composición conceptual de la velocidad (nudos)</a:t>
            </a:r>
            <a:endParaRPr lang="en-US" b="1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AAF04A8-4251-0562-C2F5-F8CB4E117083}"/>
              </a:ext>
            </a:extLst>
          </p:cNvPr>
          <p:cNvSpPr/>
          <p:nvPr/>
        </p:nvSpPr>
        <p:spPr>
          <a:xfrm>
            <a:off x="1873771" y="2154836"/>
            <a:ext cx="1304144" cy="749508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Base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4AA2ECB-2039-13FA-C095-009F47961595}"/>
              </a:ext>
            </a:extLst>
          </p:cNvPr>
          <p:cNvSpPr/>
          <p:nvPr/>
        </p:nvSpPr>
        <p:spPr>
          <a:xfrm>
            <a:off x="3508948" y="2154836"/>
            <a:ext cx="1304144" cy="74950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Corriente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9F49643-997A-83A5-9648-38C80CCAEC75}"/>
              </a:ext>
            </a:extLst>
          </p:cNvPr>
          <p:cNvSpPr/>
          <p:nvPr/>
        </p:nvSpPr>
        <p:spPr>
          <a:xfrm>
            <a:off x="5249056" y="2154836"/>
            <a:ext cx="1304144" cy="749508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Oleaje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5D00DE0-FCBA-E57A-191D-977BF15E57E6}"/>
              </a:ext>
            </a:extLst>
          </p:cNvPr>
          <p:cNvSpPr/>
          <p:nvPr/>
        </p:nvSpPr>
        <p:spPr>
          <a:xfrm>
            <a:off x="6989164" y="2154836"/>
            <a:ext cx="1304144" cy="74950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Viento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1274198-267D-B59B-EC42-C8AC4422A09D}"/>
              </a:ext>
            </a:extLst>
          </p:cNvPr>
          <p:cNvSpPr/>
          <p:nvPr/>
        </p:nvSpPr>
        <p:spPr>
          <a:xfrm>
            <a:off x="8729272" y="2154836"/>
            <a:ext cx="1304144" cy="749508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V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9CD88A-1D65-7822-3BBE-34B2A7F6D563}"/>
              </a:ext>
            </a:extLst>
          </p:cNvPr>
          <p:cNvSpPr txBox="1"/>
          <p:nvPr/>
        </p:nvSpPr>
        <p:spPr>
          <a:xfrm>
            <a:off x="3156679" y="2267980"/>
            <a:ext cx="35226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dirty="0"/>
              <a:t>+</a:t>
            </a:r>
            <a:endParaRPr lang="en-US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433A13-5B12-D2F0-C1A7-0AC3793EEE2F}"/>
              </a:ext>
            </a:extLst>
          </p:cNvPr>
          <p:cNvSpPr txBox="1"/>
          <p:nvPr/>
        </p:nvSpPr>
        <p:spPr>
          <a:xfrm>
            <a:off x="4854939" y="2267980"/>
            <a:ext cx="35226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dirty="0"/>
              <a:t>-</a:t>
            </a:r>
            <a:endParaRPr lang="en-US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9F1B4D-F480-718A-4D75-6F151D7E9A40}"/>
              </a:ext>
            </a:extLst>
          </p:cNvPr>
          <p:cNvSpPr txBox="1"/>
          <p:nvPr/>
        </p:nvSpPr>
        <p:spPr>
          <a:xfrm>
            <a:off x="6588801" y="2267980"/>
            <a:ext cx="35226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dirty="0"/>
              <a:t>-</a:t>
            </a:r>
            <a:endParaRPr lang="en-US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9E84AE-EAE0-5BC2-4588-1648DAEC5D8C}"/>
              </a:ext>
            </a:extLst>
          </p:cNvPr>
          <p:cNvSpPr txBox="1"/>
          <p:nvPr/>
        </p:nvSpPr>
        <p:spPr>
          <a:xfrm>
            <a:off x="8350769" y="2279223"/>
            <a:ext cx="35226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dirty="0"/>
              <a:t>=</a:t>
            </a:r>
            <a:endParaRPr lang="en-US" sz="2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3F95ED-B795-B06E-E8B0-0AEA979F3AA9}"/>
              </a:ext>
            </a:extLst>
          </p:cNvPr>
          <p:cNvSpPr txBox="1"/>
          <p:nvPr/>
        </p:nvSpPr>
        <p:spPr>
          <a:xfrm>
            <a:off x="1072420" y="3167390"/>
            <a:ext cx="4773744" cy="705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4400" b="1" dirty="0">
                <a:latin typeface="+mj-lt"/>
                <a:ea typeface="+mj-ea"/>
                <a:cs typeface="+mj-cs"/>
              </a:rPr>
              <a:t>Tiempo de </a:t>
            </a:r>
            <a:r>
              <a:rPr lang="en-US" sz="4400" b="1" dirty="0" err="1">
                <a:latin typeface="+mj-lt"/>
                <a:ea typeface="+mj-ea"/>
                <a:cs typeface="+mj-cs"/>
              </a:rPr>
              <a:t>travesía</a:t>
            </a:r>
            <a:endParaRPr lang="en-US" sz="4400" b="1" dirty="0">
              <a:latin typeface="+mj-lt"/>
              <a:ea typeface="+mj-ea"/>
              <a:cs typeface="+mj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72FAD34-F2D9-CF71-04CE-72A997DAD31D}"/>
              </a:ext>
            </a:extLst>
          </p:cNvPr>
          <p:cNvSpPr txBox="1"/>
          <p:nvPr/>
        </p:nvSpPr>
        <p:spPr>
          <a:xfrm>
            <a:off x="1292903" y="4381046"/>
            <a:ext cx="60935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</a:rPr>
              <a:t>tiempo (horas) = </a:t>
            </a:r>
            <a:r>
              <a:rPr lang="es-ES" sz="2800" b="0" i="0" dirty="0" err="1">
                <a:solidFill>
                  <a:srgbClr val="1F2328"/>
                </a:solidFill>
                <a:effectLst/>
                <a:latin typeface="Times New Roman" panose="02020603050405020304" pitchFamily="18" charset="0"/>
              </a:rPr>
              <a:t>distancia_nm</a:t>
            </a:r>
            <a:r>
              <a:rPr lang="es-ES" sz="2800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</a:rPr>
              <a:t> / </a:t>
            </a:r>
            <a:r>
              <a:rPr lang="es-ES" sz="2800" b="0" i="1" dirty="0" err="1">
                <a:solidFill>
                  <a:srgbClr val="1F2328"/>
                </a:solidFill>
                <a:effectLst/>
                <a:latin typeface="Times New Roman" panose="02020603050405020304" pitchFamily="18" charset="0"/>
              </a:rPr>
              <a:t>V</a:t>
            </a:r>
            <a:r>
              <a:rPr lang="es-ES" sz="2800" b="0" i="1" baseline="-25000" dirty="0" err="1">
                <a:solidFill>
                  <a:srgbClr val="1F2328"/>
                </a:solidFill>
                <a:effectLst/>
                <a:latin typeface="Times New Roman" panose="02020603050405020304" pitchFamily="18" charset="0"/>
              </a:rPr>
              <a:t>final</a:t>
            </a:r>
            <a:r>
              <a:rPr lang="es-ES" sz="2800" b="0" i="0" dirty="0">
                <a:solidFill>
                  <a:srgbClr val="1F2328"/>
                </a:solidFill>
                <a:effectLst/>
                <a:latin typeface="Times New Roman" panose="02020603050405020304" pitchFamily="18" charset="0"/>
              </a:rPr>
              <a:t>   </a:t>
            </a:r>
            <a:endParaRPr lang="es-ES" sz="2800" dirty="0">
              <a:solidFill>
                <a:srgbClr val="1F2328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61393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063F7-FB1E-5899-907C-45AE860C0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Parámetros</a:t>
            </a:r>
            <a:r>
              <a:rPr lang="en-US" b="1" dirty="0"/>
              <a:t> </a:t>
            </a:r>
            <a:r>
              <a:rPr lang="en-US" b="1" dirty="0" err="1"/>
              <a:t>por</a:t>
            </a:r>
            <a:r>
              <a:rPr lang="en-US" b="1" dirty="0"/>
              <a:t> </a:t>
            </a:r>
            <a:r>
              <a:rPr lang="en-US" b="1" dirty="0" err="1"/>
              <a:t>defecto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E7EE24B-E1C7-BFB6-DD6A-4FC43C1B97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0470189"/>
              </p:ext>
            </p:extLst>
          </p:nvPr>
        </p:nvGraphicFramePr>
        <p:xfrm>
          <a:off x="703288" y="1875688"/>
          <a:ext cx="11078980" cy="4150358"/>
        </p:xfrm>
        <a:graphic>
          <a:graphicData uri="http://schemas.openxmlformats.org/drawingml/2006/table">
            <a:tbl>
              <a:tblPr/>
              <a:tblGrid>
                <a:gridCol w="4336067">
                  <a:extLst>
                    <a:ext uri="{9D8B030D-6E8A-4147-A177-3AD203B41FA5}">
                      <a16:colId xmlns:a16="http://schemas.microsoft.com/office/drawing/2014/main" val="1938944213"/>
                    </a:ext>
                  </a:extLst>
                </a:gridCol>
                <a:gridCol w="3505038">
                  <a:extLst>
                    <a:ext uri="{9D8B030D-6E8A-4147-A177-3AD203B41FA5}">
                      <a16:colId xmlns:a16="http://schemas.microsoft.com/office/drawing/2014/main" val="1223729135"/>
                    </a:ext>
                  </a:extLst>
                </a:gridCol>
                <a:gridCol w="3237875">
                  <a:extLst>
                    <a:ext uri="{9D8B030D-6E8A-4147-A177-3AD203B41FA5}">
                      <a16:colId xmlns:a16="http://schemas.microsoft.com/office/drawing/2014/main" val="1037077960"/>
                    </a:ext>
                  </a:extLst>
                </a:gridCol>
              </a:tblGrid>
              <a:tr h="46115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ímbolo / variable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Significado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effectLst/>
                        </a:rPr>
                        <a:t>Valor </a:t>
                      </a:r>
                      <a:r>
                        <a:rPr lang="en-US" dirty="0" err="1">
                          <a:effectLst/>
                        </a:rPr>
                        <a:t>por</a:t>
                      </a:r>
                      <a:r>
                        <a:rPr lang="en-US" dirty="0">
                          <a:effectLst/>
                        </a:rPr>
                        <a:t> </a:t>
                      </a:r>
                      <a:r>
                        <a:rPr lang="en-US" dirty="0" err="1">
                          <a:effectLst/>
                        </a:rPr>
                        <a:t>Defecto</a:t>
                      </a:r>
                      <a:endParaRPr lang="en-US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6762312"/>
                  </a:ext>
                </a:extLst>
              </a:tr>
              <a:tr h="8070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  <a:latin typeface="ui-monospace"/>
                        </a:rPr>
                        <a:t>MARINE_BASE_SPEED_KTS</a:t>
                      </a:r>
                      <a:endParaRPr lang="en-US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>
                          <a:effectLst/>
                        </a:rPr>
                        <a:t>Velocidad base del barco (kn)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12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9622698"/>
                  </a:ext>
                </a:extLst>
              </a:tr>
              <a:tr h="8070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  <a:latin typeface="ui-monospace"/>
                        </a:rPr>
                        <a:t>MARINE_WAVE_PENALTY_KTS_PER_M</a:t>
                      </a:r>
                      <a:endParaRPr lang="en-US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Kn restados por metro de altura de ola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1.0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1503387"/>
                  </a:ext>
                </a:extLst>
              </a:tr>
              <a:tr h="8070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  <a:latin typeface="ui-monospace"/>
                        </a:rPr>
                        <a:t>MARINE_WIND_PENALTY_KTS_PER_MPS</a:t>
                      </a:r>
                      <a:endParaRPr lang="en-US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Kn restados por m/s de viento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0.5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0883717"/>
                  </a:ext>
                </a:extLst>
              </a:tr>
              <a:tr h="8070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  <a:latin typeface="ui-monospace"/>
                        </a:rPr>
                        <a:t>MARINE_MIN_SPEED_KTS</a:t>
                      </a:r>
                      <a:endParaRPr lang="en-US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Velocidad efectiva mínima (kn)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9255673"/>
                  </a:ext>
                </a:extLst>
              </a:tr>
              <a:tr h="46115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Factor 1,94384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>
                          <a:effectLst/>
                        </a:rPr>
                        <a:t>m/s de corriente → nudos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272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50721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B73BA-5064-2678-EEB0-CE5CF50E5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Modelo</a:t>
            </a:r>
            <a:r>
              <a:rPr lang="en-US" b="1" dirty="0"/>
              <a:t> </a:t>
            </a:r>
            <a:r>
              <a:rPr lang="en-US" b="1" dirty="0" err="1"/>
              <a:t>Resumido</a:t>
            </a: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8A5E8B-6188-553E-3CE8-8D1A352EAB36}"/>
              </a:ext>
            </a:extLst>
          </p:cNvPr>
          <p:cNvSpPr txBox="1"/>
          <p:nvPr/>
        </p:nvSpPr>
        <p:spPr>
          <a:xfrm>
            <a:off x="838200" y="1690688"/>
            <a:ext cx="10515600" cy="4467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s-ES" sz="2400" b="1" i="0" dirty="0">
                <a:solidFill>
                  <a:srgbClr val="1F2328"/>
                </a:solidFill>
                <a:effectLst/>
                <a:latin typeface="system-ui"/>
              </a:rPr>
              <a:t>Distancia</a:t>
            </a:r>
            <a:r>
              <a:rPr lang="es-ES" sz="2400" b="0" i="0" dirty="0">
                <a:solidFill>
                  <a:srgbClr val="1F2328"/>
                </a:solidFill>
                <a:effectLst/>
                <a:latin typeface="system-ui"/>
              </a:rPr>
              <a:t> </a:t>
            </a:r>
            <a:r>
              <a:rPr lang="es-ES" sz="2400" b="0" i="0" dirty="0" err="1">
                <a:solidFill>
                  <a:srgbClr val="1F2328"/>
                </a:solidFill>
                <a:effectLst/>
                <a:latin typeface="system-ui"/>
              </a:rPr>
              <a:t>Haversine</a:t>
            </a:r>
            <a:r>
              <a:rPr lang="es-ES" sz="2400" b="0" i="0" dirty="0">
                <a:solidFill>
                  <a:srgbClr val="1F2328"/>
                </a:solidFill>
                <a:effectLst/>
                <a:latin typeface="system-ui"/>
              </a:rPr>
              <a:t> entre A y B → nm y km.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s-ES" sz="2400" b="1" i="0" dirty="0">
                <a:solidFill>
                  <a:srgbClr val="1F2328"/>
                </a:solidFill>
                <a:effectLst/>
                <a:latin typeface="system-ui"/>
              </a:rPr>
              <a:t>Rumbo</a:t>
            </a:r>
            <a:r>
              <a:rPr lang="es-ES" sz="2400" b="0" i="0" dirty="0">
                <a:solidFill>
                  <a:srgbClr val="1F2328"/>
                </a:solidFill>
                <a:effectLst/>
                <a:latin typeface="system-ui"/>
              </a:rPr>
              <a:t> inicial A→B → para proyectar corriente.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s-ES" sz="2400" b="1" i="0" dirty="0">
                <a:solidFill>
                  <a:srgbClr val="1F2328"/>
                </a:solidFill>
                <a:effectLst/>
                <a:latin typeface="system-ui"/>
              </a:rPr>
              <a:t>Leer </a:t>
            </a:r>
            <a:r>
              <a:rPr lang="es-ES" sz="2400" b="1" i="0" dirty="0" err="1">
                <a:solidFill>
                  <a:srgbClr val="1F2328"/>
                </a:solidFill>
                <a:effectLst/>
                <a:latin typeface="system-ui"/>
              </a:rPr>
              <a:t>NetCDF</a:t>
            </a:r>
            <a:r>
              <a:rPr lang="es-ES" sz="2400" b="0" i="0" dirty="0">
                <a:solidFill>
                  <a:srgbClr val="1F2328"/>
                </a:solidFill>
                <a:effectLst/>
                <a:latin typeface="system-ui"/>
              </a:rPr>
              <a:t> en A: ola (m), viento (m/s) y </a:t>
            </a:r>
            <a:r>
              <a:rPr lang="es-ES" sz="2400" b="0" i="0" dirty="0" err="1">
                <a:solidFill>
                  <a:srgbClr val="1F2328"/>
                </a:solidFill>
                <a:effectLst/>
                <a:latin typeface="system-ui"/>
              </a:rPr>
              <a:t>u,v</a:t>
            </a:r>
            <a:r>
              <a:rPr lang="es-ES" sz="2400" b="0" i="0" dirty="0">
                <a:solidFill>
                  <a:srgbClr val="1F2328"/>
                </a:solidFill>
                <a:effectLst/>
                <a:latin typeface="system-ui"/>
              </a:rPr>
              <a:t> de corriente (m/s).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s-ES" sz="2400" b="1" i="0" dirty="0">
                <a:solidFill>
                  <a:srgbClr val="1F2328"/>
                </a:solidFill>
                <a:effectLst/>
                <a:latin typeface="system-ui"/>
              </a:rPr>
              <a:t>Corriente a lo largo de ruta</a:t>
            </a:r>
            <a:r>
              <a:rPr lang="es-ES" sz="2400" b="0" i="0" dirty="0">
                <a:solidFill>
                  <a:srgbClr val="1F2328"/>
                </a:solidFill>
                <a:effectLst/>
                <a:latin typeface="system-ui"/>
              </a:rPr>
              <a:t> en m/s; pasar a </a:t>
            </a:r>
            <a:r>
              <a:rPr lang="es-ES" sz="2400" b="0" i="0" dirty="0" err="1">
                <a:solidFill>
                  <a:srgbClr val="1F2328"/>
                </a:solidFill>
                <a:effectLst/>
                <a:latin typeface="system-ui"/>
              </a:rPr>
              <a:t>kn</a:t>
            </a:r>
            <a:r>
              <a:rPr lang="es-ES" sz="2400" b="0" i="0" dirty="0">
                <a:solidFill>
                  <a:srgbClr val="1F2328"/>
                </a:solidFill>
                <a:effectLst/>
                <a:latin typeface="system-ui"/>
              </a:rPr>
              <a:t>.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s-ES" sz="2400" b="1" i="0" dirty="0">
                <a:solidFill>
                  <a:srgbClr val="1F2328"/>
                </a:solidFill>
                <a:effectLst/>
                <a:latin typeface="system-ui"/>
              </a:rPr>
              <a:t>Velocidad efectiva</a:t>
            </a:r>
            <a:r>
              <a:rPr lang="es-ES" sz="2400" b="0" i="0" dirty="0">
                <a:solidFill>
                  <a:srgbClr val="1F2328"/>
                </a:solidFill>
                <a:effectLst/>
                <a:latin typeface="system-ui"/>
              </a:rPr>
              <a:t> = base + corriente − penalización ola − penalización viento; aplicar máximo con mínimo.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s-ES" sz="2400" b="1" i="0" dirty="0">
                <a:solidFill>
                  <a:srgbClr val="1F2328"/>
                </a:solidFill>
                <a:effectLst/>
                <a:latin typeface="system-ui"/>
              </a:rPr>
              <a:t>Tiempo</a:t>
            </a:r>
            <a:r>
              <a:rPr lang="es-ES" sz="2400" b="0" i="0" dirty="0">
                <a:solidFill>
                  <a:srgbClr val="1F2328"/>
                </a:solidFill>
                <a:effectLst/>
                <a:latin typeface="system-ui"/>
              </a:rPr>
              <a:t> = distancia / velocidad final</a:t>
            </a:r>
            <a:endParaRPr lang="es-ES" sz="2400" dirty="0">
              <a:solidFill>
                <a:srgbClr val="1F2328"/>
              </a:solidFill>
              <a:latin typeface="system-ui"/>
            </a:endParaRP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s-ES" sz="2400" b="1" dirty="0">
                <a:solidFill>
                  <a:srgbClr val="1F2328"/>
                </a:solidFill>
                <a:latin typeface="system-ui"/>
              </a:rPr>
              <a:t>Resultado</a:t>
            </a:r>
            <a:r>
              <a:rPr lang="es-ES" sz="2400" dirty="0">
                <a:solidFill>
                  <a:srgbClr val="1F2328"/>
                </a:solidFill>
                <a:latin typeface="system-ui"/>
              </a:rPr>
              <a:t> E</a:t>
            </a:r>
            <a:r>
              <a:rPr lang="es-ES" sz="2400" b="0" i="0" dirty="0">
                <a:solidFill>
                  <a:srgbClr val="1F2328"/>
                </a:solidFill>
                <a:effectLst/>
                <a:latin typeface="system-ui"/>
              </a:rPr>
              <a:t>xponer JSON con desglose y metadatos.</a:t>
            </a:r>
          </a:p>
        </p:txBody>
      </p:sp>
    </p:spTree>
    <p:extLst>
      <p:ext uri="{BB962C8B-B14F-4D97-AF65-F5344CB8AC3E}">
        <p14:creationId xmlns:p14="http://schemas.microsoft.com/office/powerpoint/2010/main" val="1114730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1416</Words>
  <Application>Microsoft Office PowerPoint</Application>
  <PresentationFormat>Widescreen</PresentationFormat>
  <Paragraphs>149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Aptos</vt:lpstr>
      <vt:lpstr>Aptos Display</vt:lpstr>
      <vt:lpstr>Arial</vt:lpstr>
      <vt:lpstr>Courier New</vt:lpstr>
      <vt:lpstr>system-ui</vt:lpstr>
      <vt:lpstr>Times New Roman</vt:lpstr>
      <vt:lpstr>ui-monospace</vt:lpstr>
      <vt:lpstr>Office Theme</vt:lpstr>
      <vt:lpstr>AT TiempoEstimado</vt:lpstr>
      <vt:lpstr>Flujo de trabajo global</vt:lpstr>
      <vt:lpstr>PowerPoint Presentation</vt:lpstr>
      <vt:lpstr>download_copernicusmarine_data.py</vt:lpstr>
      <vt:lpstr>Temas configurados (THEMES)</vt:lpstr>
      <vt:lpstr>Variables de entorno relevantes</vt:lpstr>
      <vt:lpstr>calculo_tiempo_estimado.py</vt:lpstr>
      <vt:lpstr>Conceptualmente el modelo hace:</vt:lpstr>
      <vt:lpstr>Visión general</vt:lpstr>
      <vt:lpstr>Entradas y datos</vt:lpstr>
      <vt:lpstr>Distancia entre A y B (Haversine)</vt:lpstr>
      <vt:lpstr>Rumbo inicial (bearing)</vt:lpstr>
      <vt:lpstr>Condiciones en el punto de partida</vt:lpstr>
      <vt:lpstr>Velocidad efectiva (nudos)</vt:lpstr>
      <vt:lpstr>Composición conceptual de la velocidad (nudos)</vt:lpstr>
      <vt:lpstr>Parámetros por defecto</vt:lpstr>
      <vt:lpstr>Modelo Resumido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Andres Herrera</dc:creator>
  <cp:lastModifiedBy>Andres Herrera</cp:lastModifiedBy>
  <cp:revision>21</cp:revision>
  <dcterms:created xsi:type="dcterms:W3CDTF">2026-03-27T02:24:54Z</dcterms:created>
  <dcterms:modified xsi:type="dcterms:W3CDTF">2026-03-27T03:47:28Z</dcterms:modified>
</cp:coreProperties>
</file>